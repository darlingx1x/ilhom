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289" r:id="rId2"/>
    <p:sldId id="365" r:id="rId3"/>
    <p:sldId id="366" r:id="rId4"/>
    <p:sldId id="367" r:id="rId5"/>
    <p:sldId id="368" r:id="rId6"/>
    <p:sldId id="369" r:id="rId7"/>
    <p:sldId id="370" r:id="rId8"/>
    <p:sldId id="371" r:id="rId9"/>
    <p:sldId id="290" r:id="rId10"/>
  </p:sldIdLst>
  <p:sldSz cx="12192000" cy="6858000"/>
  <p:notesSz cx="6858000" cy="9144000"/>
  <p:custDataLst>
    <p:tags r:id="rId12"/>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device" initials="i" lastIdx="2" clrIdx="0">
    <p:extLst>
      <p:ext uri="{19B8F6BF-5375-455C-9EA6-DF929625EA0E}">
        <p15:presenceInfo xmlns:p15="http://schemas.microsoft.com/office/powerpoint/2012/main" userId="idevice" providerId="None"/>
      </p:ext>
    </p:extLst>
  </p:cmAuthor>
  <p:cmAuthor id="2" name="Пользователь" initials="П" lastIdx="1" clrIdx="1">
    <p:extLst>
      <p:ext uri="{19B8F6BF-5375-455C-9EA6-DF929625EA0E}">
        <p15:presenceInfo xmlns:p15="http://schemas.microsoft.com/office/powerpoint/2012/main" userId="Пользователь"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3735"/>
    <a:srgbClr val="93771F"/>
    <a:srgbClr val="663B28"/>
    <a:srgbClr val="E46C0A"/>
    <a:srgbClr val="C9B121"/>
    <a:srgbClr val="77933C"/>
    <a:srgbClr val="3185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Светлый стиль 2 - акцент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1778" autoAdjust="0"/>
  </p:normalViewPr>
  <p:slideViewPr>
    <p:cSldViewPr snapToGrid="0" snapToObjects="1">
      <p:cViewPr varScale="1">
        <p:scale>
          <a:sx n="104" d="100"/>
          <a:sy n="104" d="100"/>
        </p:scale>
        <p:origin x="750" y="114"/>
      </p:cViewPr>
      <p:guideLst>
        <p:guide orient="horz" pos="2160"/>
        <p:guide pos="3840"/>
      </p:guideLst>
    </p:cSldViewPr>
  </p:slideViewPr>
  <p:notesTextViewPr>
    <p:cViewPr>
      <p:scale>
        <a:sx n="1" d="1"/>
        <a:sy n="1" d="1"/>
      </p:scale>
      <p:origin x="0" y="0"/>
    </p:cViewPr>
  </p:notesTextViewPr>
  <p:notesViewPr>
    <p:cSldViewPr snapToGrid="0" snapToObjects="1">
      <p:cViewPr varScale="1">
        <p:scale>
          <a:sx n="84" d="100"/>
          <a:sy n="84" d="100"/>
        </p:scale>
        <p:origin x="382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A28A461B-0534-412A-AB48-2E661C91213B}" type="datetimeFigureOut">
              <a:rPr lang="en-US"/>
              <a:pPr>
                <a:defRPr/>
              </a:pPr>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532CF65B-13DA-4719-83BF-668F15E91B94}" type="slidenum">
              <a:rPr lang="en-US" altLang="ru-RU"/>
              <a:pPr>
                <a:defRPr/>
              </a:pPr>
              <a:t>‹#›</a:t>
            </a:fld>
            <a:endParaRPr lang="en-US" altLang="ru-RU"/>
          </a:p>
        </p:txBody>
      </p:sp>
    </p:spTree>
    <p:extLst>
      <p:ext uri="{BB962C8B-B14F-4D97-AF65-F5344CB8AC3E}">
        <p14:creationId xmlns:p14="http://schemas.microsoft.com/office/powerpoint/2010/main" val="30850610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altLang="ru-RU" dirty="0"/>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0C969E-3ECF-45E5-97F2-76E82CFF707F}" type="slidenum">
              <a:rPr lang="en-US" altLang="ru-RU">
                <a:latin typeface="Calibri" panose="020F0502020204030204" pitchFamily="34" charset="0"/>
              </a:rPr>
              <a:pPr/>
              <a:t>1</a:t>
            </a:fld>
            <a:endParaRPr lang="en-US" altLang="ru-RU">
              <a:latin typeface="Calibri" panose="020F0502020204030204" pitchFamily="34" charset="0"/>
            </a:endParaRPr>
          </a:p>
        </p:txBody>
      </p:sp>
    </p:spTree>
    <p:extLst>
      <p:ext uri="{BB962C8B-B14F-4D97-AF65-F5344CB8AC3E}">
        <p14:creationId xmlns:p14="http://schemas.microsoft.com/office/powerpoint/2010/main" val="2695127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1</a:t>
            </a:r>
          </a:p>
          <a:p>
            <a:endParaRPr lang="ru-RU" dirty="0"/>
          </a:p>
        </p:txBody>
      </p:sp>
      <p:sp>
        <p:nvSpPr>
          <p:cNvPr id="4" name="Номер слайда 3"/>
          <p:cNvSpPr>
            <a:spLocks noGrp="1"/>
          </p:cNvSpPr>
          <p:nvPr>
            <p:ph type="sldNum" sz="quarter" idx="5"/>
          </p:nvPr>
        </p:nvSpPr>
        <p:spPr/>
        <p:txBody>
          <a:bodyPr/>
          <a:lstStyle/>
          <a:p>
            <a:pPr>
              <a:defRPr/>
            </a:pPr>
            <a:fld id="{532CF65B-13DA-4719-83BF-668F15E91B94}" type="slidenum">
              <a:rPr lang="en-US" altLang="ru-RU" smtClean="0"/>
              <a:pPr>
                <a:defRPr/>
              </a:pPr>
              <a:t>2</a:t>
            </a:fld>
            <a:endParaRPr lang="en-US" altLang="ru-RU"/>
          </a:p>
        </p:txBody>
      </p:sp>
    </p:spTree>
    <p:extLst>
      <p:ext uri="{BB962C8B-B14F-4D97-AF65-F5344CB8AC3E}">
        <p14:creationId xmlns:p14="http://schemas.microsoft.com/office/powerpoint/2010/main" val="3873799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altLang="ru-RU"/>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10A0CA-8F5C-4F03-9696-197DFBDDDAAF}" type="slidenum">
              <a:rPr lang="en-US" altLang="ru-RU">
                <a:latin typeface="Calibri" panose="020F0502020204030204" pitchFamily="34" charset="0"/>
              </a:rPr>
              <a:pPr/>
              <a:t>9</a:t>
            </a:fld>
            <a:endParaRPr lang="en-US" altLang="ru-RU">
              <a:latin typeface="Calibri" panose="020F0502020204030204" pitchFamily="34" charset="0"/>
            </a:endParaRPr>
          </a:p>
        </p:txBody>
      </p:sp>
    </p:spTree>
    <p:extLst>
      <p:ext uri="{BB962C8B-B14F-4D97-AF65-F5344CB8AC3E}">
        <p14:creationId xmlns:p14="http://schemas.microsoft.com/office/powerpoint/2010/main" val="3516972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Group 31"/>
          <p:cNvGrpSpPr>
            <a:grpSpLocks/>
          </p:cNvGrpSpPr>
          <p:nvPr userDrawn="1"/>
        </p:nvGrpSpPr>
        <p:grpSpPr bwMode="auto">
          <a:xfrm>
            <a:off x="574675" y="966788"/>
            <a:ext cx="814388" cy="101600"/>
            <a:chOff x="609005" y="1151919"/>
            <a:chExt cx="813802" cy="100882"/>
          </a:xfrm>
        </p:grpSpPr>
        <p:sp>
          <p:nvSpPr>
            <p:cNvPr id="7"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POWERPOINT TEMPLATE"/>
          <p:cNvSpPr/>
          <p:nvPr userDrawn="1"/>
        </p:nvSpPr>
        <p:spPr>
          <a:xfrm>
            <a:off x="896938" y="6303963"/>
            <a:ext cx="1884362" cy="400050"/>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DASTURLASH 1</a:t>
            </a:r>
          </a:p>
        </p:txBody>
      </p:sp>
      <p:sp>
        <p:nvSpPr>
          <p:cNvPr id="8" name="Picture Placeholder 7"/>
          <p:cNvSpPr>
            <a:spLocks noGrp="1"/>
          </p:cNvSpPr>
          <p:nvPr>
            <p:ph type="pic" sz="quarter" idx="13"/>
          </p:nvPr>
        </p:nvSpPr>
        <p:spPr>
          <a:xfrm>
            <a:off x="550863" y="1390650"/>
            <a:ext cx="5153025" cy="4525963"/>
          </a:xfrm>
          <a:prstGeom prst="snip2DiagRect">
            <a:avLst>
              <a:gd name="adj1" fmla="val 0"/>
              <a:gd name="adj2" fmla="val 38653"/>
            </a:avLst>
          </a:prstGeom>
        </p:spPr>
        <p:txBody>
          <a:bodyPr rtlCol="0">
            <a:normAutofit/>
          </a:bodyPr>
          <a:lstStyle>
            <a:lvl1pP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4" name="Slide Number Placeholder 4"/>
          <p:cNvSpPr>
            <a:spLocks noGrp="1"/>
          </p:cNvSpPr>
          <p:nvPr>
            <p:ph type="sldNum" sz="quarter" idx="14"/>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8677A065-C18F-44E6-AEDD-3AB788DE0153}" type="slidenum">
              <a:rPr lang="en-US" altLang="ru-RU"/>
              <a:pPr>
                <a:defRPr/>
              </a:pPr>
              <a:t>‹#›</a:t>
            </a:fld>
            <a:endParaRPr lang="en-US" altLang="ru-RU"/>
          </a:p>
        </p:txBody>
      </p:sp>
    </p:spTree>
    <p:extLst>
      <p:ext uri="{BB962C8B-B14F-4D97-AF65-F5344CB8AC3E}">
        <p14:creationId xmlns:p14="http://schemas.microsoft.com/office/powerpoint/2010/main" val="313854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POWERPOINT TEMPLATE"/>
          <p:cNvSpPr/>
          <p:nvPr userDrawn="1"/>
        </p:nvSpPr>
        <p:spPr>
          <a:xfrm>
            <a:off x="896938" y="6303677"/>
            <a:ext cx="2747227" cy="400622"/>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MA”LUMOTLAR BAZASI</a:t>
            </a:r>
            <a:endParaRPr sz="1600" spc="170" dirty="0">
              <a:solidFill>
                <a:schemeClr val="tx2"/>
              </a:solidFill>
            </a:endParaRPr>
          </a:p>
        </p:txBody>
      </p:sp>
      <p:cxnSp>
        <p:nvCxnSpPr>
          <p:cNvPr id="5"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Group 31"/>
          <p:cNvGrpSpPr>
            <a:grpSpLocks/>
          </p:cNvGrpSpPr>
          <p:nvPr userDrawn="1"/>
        </p:nvGrpSpPr>
        <p:grpSpPr bwMode="auto">
          <a:xfrm>
            <a:off x="574675" y="966788"/>
            <a:ext cx="814388" cy="101600"/>
            <a:chOff x="609005" y="1151919"/>
            <a:chExt cx="813802" cy="100882"/>
          </a:xfrm>
        </p:grpSpPr>
        <p:sp>
          <p:nvSpPr>
            <p:cNvPr id="7"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2" name="Slide Number Placeholder 4"/>
          <p:cNvSpPr>
            <a:spLocks noGrp="1"/>
          </p:cNvSpPr>
          <p:nvPr>
            <p:ph type="sldNum" sz="quarter" idx="10"/>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1A12AF5F-98DD-41C6-8F93-A0D1073C536A}" type="slidenum">
              <a:rPr lang="en-US" altLang="ru-RU"/>
              <a:pPr>
                <a:defRPr/>
              </a:pPr>
              <a:t>‹#›</a:t>
            </a:fld>
            <a:endParaRPr lang="en-US" altLang="ru-RU" dirty="0"/>
          </a:p>
        </p:txBody>
      </p:sp>
    </p:spTree>
    <p:extLst>
      <p:ext uri="{BB962C8B-B14F-4D97-AF65-F5344CB8AC3E}">
        <p14:creationId xmlns:p14="http://schemas.microsoft.com/office/powerpoint/2010/main" val="1599667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7"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Group 31"/>
          <p:cNvGrpSpPr>
            <a:grpSpLocks/>
          </p:cNvGrpSpPr>
          <p:nvPr userDrawn="1"/>
        </p:nvGrpSpPr>
        <p:grpSpPr bwMode="auto">
          <a:xfrm>
            <a:off x="574675" y="966788"/>
            <a:ext cx="814388" cy="101600"/>
            <a:chOff x="609005" y="1151919"/>
            <a:chExt cx="813802" cy="100882"/>
          </a:xfrm>
        </p:grpSpPr>
        <p:sp>
          <p:nvSpPr>
            <p:cNvPr id="10"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5" name="POWERPOINT TEMPLATE"/>
          <p:cNvSpPr/>
          <p:nvPr userDrawn="1"/>
        </p:nvSpPr>
        <p:spPr>
          <a:xfrm>
            <a:off x="896938" y="6303963"/>
            <a:ext cx="1884362" cy="400050"/>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DASTURLASH 1</a:t>
            </a:r>
          </a:p>
        </p:txBody>
      </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Picture Placeholder 3"/>
          <p:cNvSpPr>
            <a:spLocks noGrp="1"/>
          </p:cNvSpPr>
          <p:nvPr>
            <p:ph type="pic" sz="quarter" idx="13"/>
          </p:nvPr>
        </p:nvSpPr>
        <p:spPr>
          <a:xfrm>
            <a:off x="549320" y="1390285"/>
            <a:ext cx="2064828" cy="1932398"/>
          </a:xfrm>
          <a:prstGeom prst="snip2DiagRect">
            <a:avLst>
              <a:gd name="adj1" fmla="val 42046"/>
              <a:gd name="adj2" fmla="val 40631"/>
            </a:avLst>
          </a:prstGeo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70" name="Picture Placeholder 3"/>
          <p:cNvSpPr>
            <a:spLocks noGrp="1"/>
          </p:cNvSpPr>
          <p:nvPr>
            <p:ph type="pic" sz="quarter" idx="14"/>
          </p:nvPr>
        </p:nvSpPr>
        <p:spPr>
          <a:xfrm>
            <a:off x="3467531" y="1390285"/>
            <a:ext cx="2064828" cy="1932398"/>
          </a:xfrm>
          <a:prstGeom prst="snip2DiagRect">
            <a:avLst>
              <a:gd name="adj1" fmla="val 42046"/>
              <a:gd name="adj2" fmla="val 40631"/>
            </a:avLst>
          </a:prstGeo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71" name="Picture Placeholder 3"/>
          <p:cNvSpPr>
            <a:spLocks noGrp="1"/>
          </p:cNvSpPr>
          <p:nvPr>
            <p:ph type="pic" sz="quarter" idx="15"/>
          </p:nvPr>
        </p:nvSpPr>
        <p:spPr>
          <a:xfrm>
            <a:off x="6388962" y="1390285"/>
            <a:ext cx="2064828" cy="1932398"/>
          </a:xfrm>
          <a:prstGeom prst="snip2DiagRect">
            <a:avLst>
              <a:gd name="adj1" fmla="val 42046"/>
              <a:gd name="adj2" fmla="val 40631"/>
            </a:avLst>
          </a:prstGeo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72" name="Picture Placeholder 3"/>
          <p:cNvSpPr>
            <a:spLocks noGrp="1"/>
          </p:cNvSpPr>
          <p:nvPr>
            <p:ph type="pic" sz="quarter" idx="16"/>
          </p:nvPr>
        </p:nvSpPr>
        <p:spPr>
          <a:xfrm>
            <a:off x="9310393" y="1390285"/>
            <a:ext cx="2064828" cy="1932398"/>
          </a:xfrm>
          <a:prstGeom prst="snip2DiagRect">
            <a:avLst>
              <a:gd name="adj1" fmla="val 42046"/>
              <a:gd name="adj2" fmla="val 40631"/>
            </a:avLst>
          </a:prstGeo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16" name="Slide Number Placeholder 4"/>
          <p:cNvSpPr>
            <a:spLocks noGrp="1"/>
          </p:cNvSpPr>
          <p:nvPr>
            <p:ph type="sldNum" sz="quarter" idx="17"/>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0641F2DC-AC97-4B3C-9A99-7B7576962DE3}" type="slidenum">
              <a:rPr lang="en-US" altLang="ru-RU"/>
              <a:pPr>
                <a:defRPr/>
              </a:pPr>
              <a:t>‹#›</a:t>
            </a:fld>
            <a:endParaRPr lang="en-US" altLang="ru-RU"/>
          </a:p>
        </p:txBody>
      </p:sp>
    </p:spTree>
    <p:extLst>
      <p:ext uri="{BB962C8B-B14F-4D97-AF65-F5344CB8AC3E}">
        <p14:creationId xmlns:p14="http://schemas.microsoft.com/office/powerpoint/2010/main" val="6024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Individual)">
    <p:spTree>
      <p:nvGrpSpPr>
        <p:cNvPr id="1" name=""/>
        <p:cNvGrpSpPr/>
        <p:nvPr/>
      </p:nvGrpSpPr>
      <p:grpSpPr>
        <a:xfrm>
          <a:off x="0" y="0"/>
          <a:ext cx="0" cy="0"/>
          <a:chOff x="0" y="0"/>
          <a:chExt cx="0" cy="0"/>
        </a:xfrm>
      </p:grpSpPr>
      <p:sp>
        <p:nvSpPr>
          <p:cNvPr id="4"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Group 31"/>
          <p:cNvGrpSpPr>
            <a:grpSpLocks/>
          </p:cNvGrpSpPr>
          <p:nvPr userDrawn="1"/>
        </p:nvGrpSpPr>
        <p:grpSpPr bwMode="auto">
          <a:xfrm>
            <a:off x="574675" y="966788"/>
            <a:ext cx="814388" cy="101600"/>
            <a:chOff x="609005" y="1151919"/>
            <a:chExt cx="813802" cy="100882"/>
          </a:xfrm>
        </p:grpSpPr>
        <p:sp>
          <p:nvSpPr>
            <p:cNvPr id="8"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POWERPOINT TEMPLATE"/>
          <p:cNvSpPr/>
          <p:nvPr userDrawn="1"/>
        </p:nvSpPr>
        <p:spPr>
          <a:xfrm>
            <a:off x="896938" y="6303963"/>
            <a:ext cx="1884362" cy="400050"/>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DASTURLASH 1</a:t>
            </a:r>
          </a:p>
        </p:txBody>
      </p:sp>
      <p:sp>
        <p:nvSpPr>
          <p:cNvPr id="7" name="Picture Placeholder 6"/>
          <p:cNvSpPr>
            <a:spLocks noGrp="1"/>
          </p:cNvSpPr>
          <p:nvPr>
            <p:ph type="pic" sz="quarter" idx="13"/>
          </p:nvPr>
        </p:nvSpPr>
        <p:spPr>
          <a:xfrm>
            <a:off x="605867" y="1426479"/>
            <a:ext cx="4463146" cy="4463146"/>
          </a:xfrm>
          <a:prstGeom prst="ellipse">
            <a:avLst/>
          </a:prstGeo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4" name="Slide Number Placeholder 4"/>
          <p:cNvSpPr>
            <a:spLocks noGrp="1"/>
          </p:cNvSpPr>
          <p:nvPr>
            <p:ph type="sldNum" sz="quarter" idx="14"/>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9D911378-5053-4D55-8A15-D1B9622999D1}" type="slidenum">
              <a:rPr lang="en-US" altLang="ru-RU"/>
              <a:pPr>
                <a:defRPr/>
              </a:pPr>
              <a:t>‹#›</a:t>
            </a:fld>
            <a:endParaRPr lang="en-US" altLang="ru-RU"/>
          </a:p>
        </p:txBody>
      </p:sp>
    </p:spTree>
    <p:extLst>
      <p:ext uri="{BB962C8B-B14F-4D97-AF65-F5344CB8AC3E}">
        <p14:creationId xmlns:p14="http://schemas.microsoft.com/office/powerpoint/2010/main" val="2557616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4"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Group 31"/>
          <p:cNvGrpSpPr>
            <a:grpSpLocks/>
          </p:cNvGrpSpPr>
          <p:nvPr userDrawn="1"/>
        </p:nvGrpSpPr>
        <p:grpSpPr bwMode="auto">
          <a:xfrm>
            <a:off x="574675" y="966788"/>
            <a:ext cx="814388" cy="101600"/>
            <a:chOff x="609005" y="1151919"/>
            <a:chExt cx="813802" cy="100882"/>
          </a:xfrm>
        </p:grpSpPr>
        <p:sp>
          <p:nvSpPr>
            <p:cNvPr id="8"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POWERPOINT TEMPLATE"/>
          <p:cNvSpPr/>
          <p:nvPr userDrawn="1"/>
        </p:nvSpPr>
        <p:spPr>
          <a:xfrm>
            <a:off x="896938" y="6303963"/>
            <a:ext cx="1884362" cy="400050"/>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DASTURLASH 1</a:t>
            </a:r>
          </a:p>
        </p:txBody>
      </p:sp>
      <p:sp>
        <p:nvSpPr>
          <p:cNvPr id="7" name="Picture Placeholder 6"/>
          <p:cNvSpPr>
            <a:spLocks noGrp="1"/>
          </p:cNvSpPr>
          <p:nvPr>
            <p:ph type="pic" sz="quarter" idx="13"/>
          </p:nvPr>
        </p:nvSpPr>
        <p:spPr>
          <a:xfrm>
            <a:off x="1996236" y="2931804"/>
            <a:ext cx="1755648" cy="1755648"/>
          </a:xfrm>
          <a:prstGeom prst="ellipse">
            <a:avLst/>
          </a:prstGeo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4" name="Slide Number Placeholder 4"/>
          <p:cNvSpPr>
            <a:spLocks noGrp="1"/>
          </p:cNvSpPr>
          <p:nvPr>
            <p:ph type="sldNum" sz="quarter" idx="14"/>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102AB744-B14B-4E1C-AC04-AED1126984C0}" type="slidenum">
              <a:rPr lang="en-US" altLang="ru-RU"/>
              <a:pPr>
                <a:defRPr/>
              </a:pPr>
              <a:t>‹#›</a:t>
            </a:fld>
            <a:endParaRPr lang="en-US" altLang="ru-RU"/>
          </a:p>
        </p:txBody>
      </p:sp>
    </p:spTree>
    <p:extLst>
      <p:ext uri="{BB962C8B-B14F-4D97-AF65-F5344CB8AC3E}">
        <p14:creationId xmlns:p14="http://schemas.microsoft.com/office/powerpoint/2010/main" val="2360339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ision and Vision">
    <p:spTree>
      <p:nvGrpSpPr>
        <p:cNvPr id="1" name=""/>
        <p:cNvGrpSpPr/>
        <p:nvPr/>
      </p:nvGrpSpPr>
      <p:grpSpPr>
        <a:xfrm>
          <a:off x="0" y="0"/>
          <a:ext cx="0" cy="0"/>
          <a:chOff x="0" y="0"/>
          <a:chExt cx="0" cy="0"/>
        </a:xfrm>
      </p:grpSpPr>
      <p:sp>
        <p:nvSpPr>
          <p:cNvPr id="5"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6"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oup 31"/>
          <p:cNvGrpSpPr>
            <a:grpSpLocks/>
          </p:cNvGrpSpPr>
          <p:nvPr userDrawn="1"/>
        </p:nvGrpSpPr>
        <p:grpSpPr bwMode="auto">
          <a:xfrm>
            <a:off x="574675" y="966788"/>
            <a:ext cx="814388" cy="101600"/>
            <a:chOff x="609005" y="1151919"/>
            <a:chExt cx="813802" cy="100882"/>
          </a:xfrm>
        </p:grpSpPr>
        <p:sp>
          <p:nvSpPr>
            <p:cNvPr id="8"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POWERPOINT TEMPLATE"/>
          <p:cNvSpPr/>
          <p:nvPr userDrawn="1"/>
        </p:nvSpPr>
        <p:spPr>
          <a:xfrm>
            <a:off x="896938" y="6303963"/>
            <a:ext cx="1884362" cy="400050"/>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DASTURLASH 1</a:t>
            </a:r>
          </a:p>
        </p:txBody>
      </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Picture Placeholder 3"/>
          <p:cNvSpPr>
            <a:spLocks noGrp="1"/>
          </p:cNvSpPr>
          <p:nvPr>
            <p:ph type="pic" sz="quarter" idx="13"/>
          </p:nvPr>
        </p:nvSpPr>
        <p:spPr>
          <a:xfrm>
            <a:off x="600075" y="1338263"/>
            <a:ext cx="5062538" cy="2236787"/>
          </a:xfr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31" name="Picture Placeholder 3"/>
          <p:cNvSpPr>
            <a:spLocks noGrp="1"/>
          </p:cNvSpPr>
          <p:nvPr>
            <p:ph type="pic" sz="quarter" idx="14"/>
          </p:nvPr>
        </p:nvSpPr>
        <p:spPr>
          <a:xfrm>
            <a:off x="6612683" y="1338263"/>
            <a:ext cx="5062538" cy="2236787"/>
          </a:xfr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14" name="Slide Number Placeholder 4"/>
          <p:cNvSpPr>
            <a:spLocks noGrp="1"/>
          </p:cNvSpPr>
          <p:nvPr>
            <p:ph type="sldNum" sz="quarter" idx="15"/>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5159EE36-6857-47CF-BDAF-2519BDD97993}" type="slidenum">
              <a:rPr lang="en-US" altLang="ru-RU"/>
              <a:pPr>
                <a:defRPr/>
              </a:pPr>
              <a:t>‹#›</a:t>
            </a:fld>
            <a:endParaRPr lang="en-US" altLang="ru-RU"/>
          </a:p>
        </p:txBody>
      </p:sp>
    </p:spTree>
    <p:extLst>
      <p:ext uri="{BB962C8B-B14F-4D97-AF65-F5344CB8AC3E}">
        <p14:creationId xmlns:p14="http://schemas.microsoft.com/office/powerpoint/2010/main" val="298834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rtfolio">
    <p:spTree>
      <p:nvGrpSpPr>
        <p:cNvPr id="1" name=""/>
        <p:cNvGrpSpPr/>
        <p:nvPr/>
      </p:nvGrpSpPr>
      <p:grpSpPr>
        <a:xfrm>
          <a:off x="0" y="0"/>
          <a:ext cx="0" cy="0"/>
          <a:chOff x="0" y="0"/>
          <a:chExt cx="0" cy="0"/>
        </a:xfrm>
      </p:grpSpPr>
      <p:sp>
        <p:nvSpPr>
          <p:cNvPr id="7" name="Oval 5"/>
          <p:cNvSpPr/>
          <p:nvPr userDrawn="1"/>
        </p:nvSpPr>
        <p:spPr>
          <a:xfrm>
            <a:off x="11239500" y="6253163"/>
            <a:ext cx="488950" cy="488950"/>
          </a:xfrm>
          <a:prstGeom prst="ellipse">
            <a:avLst/>
          </a:prstGeom>
          <a:gradFill>
            <a:gsLst>
              <a:gs pos="0">
                <a:schemeClr val="accent5"/>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22"/>
          <p:cNvCxnSpPr>
            <a:cxnSpLocks/>
          </p:cNvCxnSpPr>
          <p:nvPr userDrawn="1"/>
        </p:nvCxnSpPr>
        <p:spPr>
          <a:xfrm>
            <a:off x="863600" y="6300788"/>
            <a:ext cx="1022191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Group 31"/>
          <p:cNvGrpSpPr>
            <a:grpSpLocks/>
          </p:cNvGrpSpPr>
          <p:nvPr userDrawn="1"/>
        </p:nvGrpSpPr>
        <p:grpSpPr bwMode="auto">
          <a:xfrm>
            <a:off x="574675" y="966788"/>
            <a:ext cx="814388" cy="101600"/>
            <a:chOff x="609005" y="1151919"/>
            <a:chExt cx="813802" cy="100882"/>
          </a:xfrm>
        </p:grpSpPr>
        <p:sp>
          <p:nvSpPr>
            <p:cNvPr id="10" name="Oval 25"/>
            <p:cNvSpPr/>
            <p:nvPr userDrawn="1"/>
          </p:nvSpPr>
          <p:spPr>
            <a:xfrm>
              <a:off x="609005" y="1151919"/>
              <a:ext cx="101527" cy="1008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Oval 26"/>
            <p:cNvSpPr/>
            <p:nvPr userDrawn="1"/>
          </p:nvSpPr>
          <p:spPr>
            <a:xfrm>
              <a:off x="786677" y="1151919"/>
              <a:ext cx="101527" cy="1008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Oval 27"/>
            <p:cNvSpPr/>
            <p:nvPr userDrawn="1"/>
          </p:nvSpPr>
          <p:spPr>
            <a:xfrm>
              <a:off x="965936" y="1151919"/>
              <a:ext cx="99940" cy="1008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Oval 28"/>
            <p:cNvSpPr/>
            <p:nvPr userDrawn="1"/>
          </p:nvSpPr>
          <p:spPr>
            <a:xfrm>
              <a:off x="1143608" y="1151919"/>
              <a:ext cx="101527" cy="1008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Oval 29"/>
            <p:cNvSpPr/>
            <p:nvPr userDrawn="1"/>
          </p:nvSpPr>
          <p:spPr>
            <a:xfrm>
              <a:off x="1321280" y="1151919"/>
              <a:ext cx="101527" cy="1008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5" name="POWERPOINT TEMPLATE"/>
          <p:cNvSpPr/>
          <p:nvPr userDrawn="1"/>
        </p:nvSpPr>
        <p:spPr>
          <a:xfrm>
            <a:off x="896938" y="6303963"/>
            <a:ext cx="1884362" cy="400050"/>
          </a:xfrm>
          <a:prstGeom prst="rect">
            <a:avLst/>
          </a:prstGeom>
          <a:ln w="12700">
            <a:miter lim="400000"/>
          </a:ln>
        </p:spPr>
        <p:txBody>
          <a:bodyPr wrap="none" lIns="38100" tIns="38100" rIns="38100" bIns="38100" anchor="ctr">
            <a:spAutoFit/>
          </a:bodyPr>
          <a:lstStyle>
            <a:lvl1pPr>
              <a:lnSpc>
                <a:spcPts val="4500"/>
              </a:lnSpc>
              <a:tabLst>
                <a:tab pos="1066800" algn="l"/>
              </a:tabLst>
              <a:defRPr sz="3821">
                <a:latin typeface="Arial"/>
                <a:ea typeface="Arial"/>
                <a:cs typeface="Arial"/>
                <a:sym typeface="Arial"/>
              </a:defRPr>
            </a:lvl1pPr>
          </a:lstStyle>
          <a:p>
            <a:pPr eaLnBrk="1" fontAlgn="auto" hangingPunct="1">
              <a:lnSpc>
                <a:spcPct val="150000"/>
              </a:lnSpc>
              <a:spcBef>
                <a:spcPts val="0"/>
              </a:spcBef>
              <a:spcAft>
                <a:spcPts val="0"/>
              </a:spcAft>
              <a:defRPr/>
            </a:pPr>
            <a:r>
              <a:rPr lang="en-US" sz="1600" spc="170" dirty="0">
                <a:solidFill>
                  <a:schemeClr val="tx2"/>
                </a:solidFill>
              </a:rPr>
              <a:t>DASTURLASH 1</a:t>
            </a:r>
          </a:p>
        </p:txBody>
      </p:sp>
      <p:sp>
        <p:nvSpPr>
          <p:cNvPr id="2" name="Title 1"/>
          <p:cNvSpPr>
            <a:spLocks noGrp="1"/>
          </p:cNvSpPr>
          <p:nvPr>
            <p:ph type="title"/>
          </p:nvPr>
        </p:nvSpPr>
        <p:spPr>
          <a:xfrm>
            <a:off x="463924" y="242167"/>
            <a:ext cx="11264152" cy="547274"/>
          </a:xfrm>
        </p:spPr>
        <p:txBody>
          <a:bodyPr anchor="t">
            <a:noAutofit/>
          </a:bodyPr>
          <a:lstStyle>
            <a:lvl1pPr>
              <a:lnSpc>
                <a:spcPct val="100000"/>
              </a:lnSpc>
              <a:defRPr sz="3000" b="1">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Picture Placeholder 3"/>
          <p:cNvSpPr>
            <a:spLocks noGrp="1"/>
          </p:cNvSpPr>
          <p:nvPr>
            <p:ph type="pic" sz="quarter" idx="13"/>
          </p:nvPr>
        </p:nvSpPr>
        <p:spPr>
          <a:xfrm>
            <a:off x="600075" y="1338263"/>
            <a:ext cx="2381247" cy="2448518"/>
          </a:xfr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36" name="Picture Placeholder 3"/>
          <p:cNvSpPr>
            <a:spLocks noGrp="1"/>
          </p:cNvSpPr>
          <p:nvPr>
            <p:ph type="pic" sz="quarter" idx="14"/>
          </p:nvPr>
        </p:nvSpPr>
        <p:spPr>
          <a:xfrm>
            <a:off x="3515659" y="1338263"/>
            <a:ext cx="2381247" cy="2448518"/>
          </a:xfr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37" name="Picture Placeholder 3"/>
          <p:cNvSpPr>
            <a:spLocks noGrp="1"/>
          </p:cNvSpPr>
          <p:nvPr>
            <p:ph type="pic" sz="quarter" idx="15"/>
          </p:nvPr>
        </p:nvSpPr>
        <p:spPr>
          <a:xfrm>
            <a:off x="6431015" y="1338263"/>
            <a:ext cx="2381247" cy="2448518"/>
          </a:xfr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38" name="Picture Placeholder 3"/>
          <p:cNvSpPr>
            <a:spLocks noGrp="1"/>
          </p:cNvSpPr>
          <p:nvPr>
            <p:ph type="pic" sz="quarter" idx="16"/>
          </p:nvPr>
        </p:nvSpPr>
        <p:spPr>
          <a:xfrm>
            <a:off x="9346599" y="1338263"/>
            <a:ext cx="2381247" cy="2448518"/>
          </a:xfrm>
        </p:spPr>
        <p:txBody>
          <a:bodyPr rtlCol="0" anchor="ctr">
            <a:normAutofit/>
          </a:bodyPr>
          <a:lstStyle>
            <a:lvl1pPr algn="ctr">
              <a:defRPr sz="1200">
                <a:solidFill>
                  <a:schemeClr val="tx2">
                    <a:lumMod val="60000"/>
                    <a:lumOff val="40000"/>
                  </a:schemeClr>
                </a:solidFill>
                <a:latin typeface="Arial" panose="020B0604020202020204" pitchFamily="34" charset="0"/>
                <a:cs typeface="Arial" panose="020B0604020202020204" pitchFamily="34" charset="0"/>
              </a:defRPr>
            </a:lvl1pPr>
          </a:lstStyle>
          <a:p>
            <a:pPr lvl="0"/>
            <a:endParaRPr lang="en-US" noProof="0"/>
          </a:p>
        </p:txBody>
      </p:sp>
      <p:sp>
        <p:nvSpPr>
          <p:cNvPr id="16" name="Slide Number Placeholder 4"/>
          <p:cNvSpPr>
            <a:spLocks noGrp="1"/>
          </p:cNvSpPr>
          <p:nvPr>
            <p:ph type="sldNum" sz="quarter" idx="17"/>
          </p:nvPr>
        </p:nvSpPr>
        <p:spPr>
          <a:xfrm>
            <a:off x="11201400" y="6316663"/>
            <a:ext cx="561975" cy="365125"/>
          </a:xfrm>
        </p:spPr>
        <p:txBody>
          <a:bodyPr/>
          <a:lstStyle>
            <a:lvl1pPr algn="ctr">
              <a:defRPr smtClean="0">
                <a:solidFill>
                  <a:schemeClr val="bg1"/>
                </a:solidFill>
                <a:cs typeface="Arial" panose="020B0604020202020204" pitchFamily="34" charset="0"/>
              </a:defRPr>
            </a:lvl1pPr>
          </a:lstStyle>
          <a:p>
            <a:pPr>
              <a:defRPr/>
            </a:pPr>
            <a:fld id="{C5CA70FF-BF36-4612-B47A-102264518DEC}" type="slidenum">
              <a:rPr lang="en-US" altLang="ru-RU"/>
              <a:pPr>
                <a:defRPr/>
              </a:pPr>
              <a:t>‹#›</a:t>
            </a:fld>
            <a:endParaRPr lang="en-US" altLang="ru-RU"/>
          </a:p>
        </p:txBody>
      </p:sp>
    </p:spTree>
    <p:extLst>
      <p:ext uri="{BB962C8B-B14F-4D97-AF65-F5344CB8AC3E}">
        <p14:creationId xmlns:p14="http://schemas.microsoft.com/office/powerpoint/2010/main" val="269682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9"/>
          <p:cNvSpPr>
            <a:spLocks noGrp="1"/>
          </p:cNvSpPr>
          <p:nvPr>
            <p:ph type="dt" sz="half" idx="10"/>
          </p:nvPr>
        </p:nvSpPr>
        <p:spPr/>
        <p:txBody>
          <a:bodyPr/>
          <a:lstStyle>
            <a:lvl1pPr>
              <a:defRPr/>
            </a:lvl1pPr>
          </a:lstStyle>
          <a:p>
            <a:pPr>
              <a:defRPr/>
            </a:pPr>
            <a:endParaRPr lang="ru-RU"/>
          </a:p>
        </p:txBody>
      </p:sp>
      <p:sp>
        <p:nvSpPr>
          <p:cNvPr id="3" name="Нижний колонтитул 21"/>
          <p:cNvSpPr>
            <a:spLocks noGrp="1"/>
          </p:cNvSpPr>
          <p:nvPr>
            <p:ph type="ftr" sz="quarter" idx="11"/>
          </p:nvPr>
        </p:nvSpPr>
        <p:spPr/>
        <p:txBody>
          <a:bodyPr/>
          <a:lstStyle>
            <a:lvl1pPr>
              <a:defRPr/>
            </a:lvl1pPr>
          </a:lstStyle>
          <a:p>
            <a:pPr>
              <a:defRPr/>
            </a:pPr>
            <a:endParaRPr lang="ru-RU"/>
          </a:p>
        </p:txBody>
      </p:sp>
      <p:sp>
        <p:nvSpPr>
          <p:cNvPr id="4" name="Номер слайда 17"/>
          <p:cNvSpPr>
            <a:spLocks noGrp="1"/>
          </p:cNvSpPr>
          <p:nvPr>
            <p:ph type="sldNum" sz="quarter" idx="12"/>
          </p:nvPr>
        </p:nvSpPr>
        <p:spPr/>
        <p:txBody>
          <a:bodyPr/>
          <a:lstStyle>
            <a:lvl1pPr>
              <a:defRPr/>
            </a:lvl1pPr>
          </a:lstStyle>
          <a:p>
            <a:pPr>
              <a:defRPr/>
            </a:pPr>
            <a:fld id="{B1E94D3F-9C0E-4C24-8A35-048AD7BBF62C}" type="slidenum">
              <a:rPr lang="ru-RU" altLang="ru-RU"/>
              <a:pPr>
                <a:defRPr/>
              </a:pPr>
              <a:t>‹#›</a:t>
            </a:fld>
            <a:endParaRPr lang="ru-RU" altLang="ru-RU"/>
          </a:p>
        </p:txBody>
      </p:sp>
    </p:spTree>
    <p:extLst>
      <p:ext uri="{BB962C8B-B14F-4D97-AF65-F5344CB8AC3E}">
        <p14:creationId xmlns:p14="http://schemas.microsoft.com/office/powerpoint/2010/main" val="1278677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ru-RU"/>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ru-RU"/>
              <a:t>Edit Master text styles</a:t>
            </a:r>
          </a:p>
          <a:p>
            <a:pPr lvl="1"/>
            <a:r>
              <a:rPr lang="en-US" altLang="ru-RU"/>
              <a:t>Second level</a:t>
            </a:r>
          </a:p>
          <a:p>
            <a:pPr lvl="2"/>
            <a:r>
              <a:rPr lang="en-US" altLang="ru-RU"/>
              <a:t>Third level</a:t>
            </a:r>
          </a:p>
          <a:p>
            <a:pPr lvl="3"/>
            <a:r>
              <a:rPr lang="en-US" altLang="ru-RU"/>
              <a:t>Fourth level</a:t>
            </a:r>
          </a:p>
          <a:p>
            <a:pPr lvl="4"/>
            <a:r>
              <a:rPr lang="en-US" altLang="ru-RU"/>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02D5DC23-BDEA-4526-8FF2-7D7CAD901F89}" type="slidenum">
              <a:rPr lang="en-US" altLang="ru-RU"/>
              <a:pPr>
                <a:defRPr/>
              </a:pPr>
              <a:t>‹#›</a:t>
            </a:fld>
            <a:endParaRPr lang="en-US" altLang="ru-RU"/>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7" r:id="rId8"/>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028" name="Picture 4" descr="MID PROJECT: Madrid Inclusión Digital – Proyecto MID – Madrid Inclusión  Digital">
            <a:extLst>
              <a:ext uri="{FF2B5EF4-FFF2-40B4-BE49-F238E27FC236}">
                <a16:creationId xmlns:a16="http://schemas.microsoft.com/office/drawing/2014/main" id="{65BF424A-69C6-48BF-B781-AB88A4706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6877" y="1311836"/>
            <a:ext cx="9415123" cy="5516674"/>
          </a:xfrm>
          <a:prstGeom prst="rect">
            <a:avLst/>
          </a:prstGeom>
          <a:noFill/>
          <a:extLst>
            <a:ext uri="{909E8E84-426E-40DD-AFC4-6F175D3DCCD1}">
              <a14:hiddenFill xmlns:a14="http://schemas.microsoft.com/office/drawing/2010/main">
                <a:solidFill>
                  <a:srgbClr val="FFFFFF"/>
                </a:solidFill>
              </a14:hiddenFill>
            </a:ext>
          </a:extLst>
        </p:spPr>
      </p:pic>
      <p:sp>
        <p:nvSpPr>
          <p:cNvPr id="29" name="Right Triangle 16"/>
          <p:cNvSpPr/>
          <p:nvPr/>
        </p:nvSpPr>
        <p:spPr>
          <a:xfrm rot="10800000">
            <a:off x="2844800" y="3032125"/>
            <a:ext cx="1589088" cy="1587500"/>
          </a:xfrm>
          <a:prstGeom prst="rtTriangle">
            <a:avLst/>
          </a:prstGeom>
          <a:solidFill>
            <a:srgbClr val="9537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2" name="Прямоугольник 51"/>
          <p:cNvSpPr/>
          <p:nvPr/>
        </p:nvSpPr>
        <p:spPr>
          <a:xfrm>
            <a:off x="0" y="0"/>
            <a:ext cx="12192000" cy="1154113"/>
          </a:xfrm>
          <a:prstGeom prst="rect">
            <a:avLst/>
          </a:prstGeom>
          <a:solidFill>
            <a:schemeClr val="accent1"/>
          </a:solidFill>
          <a:ln w="12700">
            <a:miter lim="400000"/>
          </a:ln>
        </p:spPr>
        <p:txBody>
          <a:bodyPr lIns="38100" tIns="38100" rIns="38100" bIns="38100" anchor="ctr"/>
          <a:lstStyle/>
          <a:p>
            <a:pPr eaLnBrk="1" fontAlgn="auto" hangingPunct="1">
              <a:spcBef>
                <a:spcPts val="0"/>
              </a:spcBef>
              <a:spcAft>
                <a:spcPts val="0"/>
              </a:spcAft>
              <a:defRPr/>
            </a:pPr>
            <a:endParaRPr lang="en-US" sz="3000" dirty="0">
              <a:solidFill>
                <a:srgbClr val="FFFFFF"/>
              </a:solidFill>
              <a:effectLst>
                <a:outerShdw blurRad="38100" dist="12700" dir="5400000" rotWithShape="0">
                  <a:srgbClr val="000000">
                    <a:alpha val="50000"/>
                  </a:srgbClr>
                </a:outerShdw>
              </a:effectLst>
              <a:latin typeface="+mn-lt"/>
            </a:endParaRPr>
          </a:p>
        </p:txBody>
      </p:sp>
      <p:sp>
        <p:nvSpPr>
          <p:cNvPr id="10246" name="POWERPOINT TEMPLATE"/>
          <p:cNvSpPr>
            <a:spLocks noChangeArrowheads="1"/>
          </p:cNvSpPr>
          <p:nvPr/>
        </p:nvSpPr>
        <p:spPr bwMode="auto">
          <a:xfrm>
            <a:off x="2025649" y="230188"/>
            <a:ext cx="973772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38100" tIns="38100" rIns="38100" bIns="38100" anchor="ctr">
            <a:spAutoFit/>
          </a:bodyPr>
          <a:lstStyle>
            <a:lvl1pPr>
              <a:lnSpc>
                <a:spcPct val="90000"/>
              </a:lnSpc>
              <a:spcBef>
                <a:spcPts val="1000"/>
              </a:spcBef>
              <a:buFont typeface="Arial" panose="020B0604020202020204" pitchFamily="34" charset="0"/>
              <a:buChar char="•"/>
              <a:tabLst>
                <a:tab pos="1066800" algn="l"/>
              </a:tabLst>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tabLst>
                <a:tab pos="1066800" algn="l"/>
              </a:tabLst>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tabLst>
                <a:tab pos="1066800" algn="l"/>
              </a:tabLst>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9pPr>
          </a:lstStyle>
          <a:p>
            <a:pPr eaLnBrk="1" hangingPunct="1">
              <a:lnSpc>
                <a:spcPct val="100000"/>
              </a:lnSpc>
              <a:spcBef>
                <a:spcPct val="0"/>
              </a:spcBef>
              <a:buFontTx/>
              <a:buNone/>
            </a:pPr>
            <a:r>
              <a:rPr lang="ru-RU" altLang="ru-RU" sz="2000" dirty="0">
                <a:solidFill>
                  <a:schemeClr val="bg1"/>
                </a:solidFill>
                <a:latin typeface="Cambria" panose="02040503050406030204" pitchFamily="18" charset="0"/>
                <a:ea typeface="Cambria" panose="02040503050406030204" pitchFamily="18" charset="0"/>
                <a:cs typeface="Arial" panose="020B0604020202020204" pitchFamily="34" charset="0"/>
                <a:sym typeface="Arial" panose="020B0604020202020204" pitchFamily="34" charset="0"/>
              </a:rPr>
              <a:t>ТАШКЕНТСКИЙ УНИВЕРСИТЕТ ИНФОРМАЦИОННЫХ</a:t>
            </a:r>
          </a:p>
          <a:p>
            <a:pPr eaLnBrk="1" hangingPunct="1">
              <a:lnSpc>
                <a:spcPct val="100000"/>
              </a:lnSpc>
              <a:spcBef>
                <a:spcPct val="0"/>
              </a:spcBef>
              <a:buFontTx/>
              <a:buNone/>
            </a:pPr>
            <a:r>
              <a:rPr lang="ru-RU" altLang="ru-RU" sz="2000" dirty="0">
                <a:solidFill>
                  <a:schemeClr val="bg1"/>
                </a:solidFill>
                <a:latin typeface="Cambria" panose="02040503050406030204" pitchFamily="18" charset="0"/>
                <a:ea typeface="Cambria" panose="02040503050406030204" pitchFamily="18" charset="0"/>
                <a:cs typeface="Arial" panose="020B0604020202020204" pitchFamily="34" charset="0"/>
                <a:sym typeface="Arial" panose="020B0604020202020204" pitchFamily="34" charset="0"/>
              </a:rPr>
              <a:t>ТЕХНОЛОГИЙ ИМЕНИ МУХАММАДА АЛ-ХОРАЗМИЙ</a:t>
            </a:r>
          </a:p>
        </p:txBody>
      </p:sp>
      <p:sp>
        <p:nvSpPr>
          <p:cNvPr id="58" name="Прямоугольник 57"/>
          <p:cNvSpPr/>
          <p:nvPr/>
        </p:nvSpPr>
        <p:spPr>
          <a:xfrm>
            <a:off x="533400" y="0"/>
            <a:ext cx="1168400" cy="1154113"/>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pic>
        <p:nvPicPr>
          <p:cNvPr id="10248" name="Рисунок 6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2300" y="107950"/>
            <a:ext cx="98107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Прямоугольник 61"/>
          <p:cNvSpPr>
            <a:spLocks noChangeAspect="1"/>
          </p:cNvSpPr>
          <p:nvPr/>
        </p:nvSpPr>
        <p:spPr>
          <a:xfrm>
            <a:off x="116454" y="1384341"/>
            <a:ext cx="5693453" cy="1416050"/>
          </a:xfrm>
          <a:prstGeom prst="rect">
            <a:avLst/>
          </a:prstGeom>
          <a:solidFill>
            <a:schemeClr val="accent1"/>
          </a:solidFill>
          <a:ln w="12700">
            <a:miter lim="400000"/>
          </a:ln>
        </p:spPr>
        <p:txBody>
          <a:bodyPr lIns="38100" tIns="38100" rIns="38100" bIns="38100" anchor="ctr"/>
          <a:lstStyle/>
          <a:p>
            <a:pPr eaLnBrk="1" fontAlgn="auto" hangingPunct="1">
              <a:spcBef>
                <a:spcPts val="0"/>
              </a:spcBef>
              <a:spcAft>
                <a:spcPts val="0"/>
              </a:spcAft>
              <a:defRPr/>
            </a:pPr>
            <a:endParaRPr lang="en-US" sz="1100" dirty="0">
              <a:solidFill>
                <a:srgbClr val="FFFFFF"/>
              </a:solidFill>
              <a:effectLst>
                <a:outerShdw blurRad="38100" dist="12700" dir="5400000" rotWithShape="0">
                  <a:srgbClr val="000000">
                    <a:alpha val="50000"/>
                  </a:srgbClr>
                </a:outerShdw>
              </a:effectLst>
              <a:cs typeface="Arial" panose="020B0604020202020204" pitchFamily="34" charset="0"/>
            </a:endParaRPr>
          </a:p>
        </p:txBody>
      </p:sp>
      <p:sp>
        <p:nvSpPr>
          <p:cNvPr id="10250" name="POWERPOINT TEMPLATE"/>
          <p:cNvSpPr>
            <a:spLocks noChangeArrowheads="1"/>
          </p:cNvSpPr>
          <p:nvPr/>
        </p:nvSpPr>
        <p:spPr bwMode="auto">
          <a:xfrm>
            <a:off x="172017" y="1502279"/>
            <a:ext cx="6114822"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38100" tIns="38100" rIns="38100" bIns="38100" anchor="ctr">
            <a:spAutoFit/>
          </a:bodyPr>
          <a:lstStyle>
            <a:lvl1pPr>
              <a:lnSpc>
                <a:spcPct val="90000"/>
              </a:lnSpc>
              <a:spcBef>
                <a:spcPts val="1000"/>
              </a:spcBef>
              <a:buFont typeface="Arial" panose="020B0604020202020204" pitchFamily="34" charset="0"/>
              <a:buChar char="•"/>
              <a:tabLst>
                <a:tab pos="1066800" algn="l"/>
              </a:tabLst>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tabLst>
                <a:tab pos="1066800" algn="l"/>
              </a:tabLst>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tabLst>
                <a:tab pos="1066800" algn="l"/>
              </a:tabLst>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9pPr>
          </a:lstStyle>
          <a:p>
            <a:pPr algn="ctr">
              <a:lnSpc>
                <a:spcPct val="100000"/>
              </a:lnSpc>
              <a:spcBef>
                <a:spcPts val="0"/>
              </a:spcBef>
              <a:spcAft>
                <a:spcPts val="0"/>
              </a:spcAft>
              <a:buNone/>
            </a:pPr>
            <a:r>
              <a:rPr lang="ru-RU" sz="3300" b="1" kern="100" dirty="0">
                <a:solidFill>
                  <a:schemeClr val="bg1"/>
                </a:solidFill>
                <a:effectLst/>
                <a:latin typeface="Cambria" panose="02040503050406030204" pitchFamily="18" charset="0"/>
                <a:ea typeface="Cambria" panose="02040503050406030204" pitchFamily="18" charset="0"/>
                <a:cs typeface="Times New Roman" panose="02020603050405020304" pitchFamily="18" charset="0"/>
              </a:rPr>
              <a:t>Кафедра «Конвергенция цифровых технологий»</a:t>
            </a:r>
          </a:p>
        </p:txBody>
      </p:sp>
      <p:sp>
        <p:nvSpPr>
          <p:cNvPr id="69" name="Circle"/>
          <p:cNvSpPr/>
          <p:nvPr/>
        </p:nvSpPr>
        <p:spPr>
          <a:xfrm>
            <a:off x="3644900" y="3200400"/>
            <a:ext cx="647700" cy="647700"/>
          </a:xfrm>
          <a:prstGeom prst="ellipse">
            <a:avLst/>
          </a:prstGeom>
          <a:solidFill>
            <a:schemeClr val="accent2">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2800">
              <a:solidFill>
                <a:srgbClr val="FFFFFF"/>
              </a:solidFill>
              <a:effectLst>
                <a:outerShdw blurRad="38100" dist="12700" dir="5400000" rotWithShape="0">
                  <a:srgbClr val="000000">
                    <a:alpha val="50000"/>
                  </a:srgbClr>
                </a:outerShdw>
              </a:effectLst>
              <a:latin typeface="+mn-lt"/>
            </a:endParaRPr>
          </a:p>
        </p:txBody>
      </p:sp>
      <p:sp>
        <p:nvSpPr>
          <p:cNvPr id="71" name="Прямоугольник 70"/>
          <p:cNvSpPr>
            <a:spLocks noChangeAspect="1"/>
          </p:cNvSpPr>
          <p:nvPr/>
        </p:nvSpPr>
        <p:spPr>
          <a:xfrm>
            <a:off x="4436341" y="3113088"/>
            <a:ext cx="7666037" cy="1562100"/>
          </a:xfrm>
          <a:prstGeom prst="rect">
            <a:avLst/>
          </a:prstGeom>
          <a:solidFill>
            <a:schemeClr val="accent1"/>
          </a:solidFill>
          <a:ln w="12700">
            <a:miter lim="400000"/>
          </a:ln>
        </p:spPr>
        <p:txBody>
          <a:bodyPr lIns="38100" tIns="38100" rIns="38100" bIns="38100" anchor="ctr"/>
          <a:lstStyle/>
          <a:p>
            <a:pPr algn="ctr">
              <a:lnSpc>
                <a:spcPct val="100000"/>
              </a:lnSpc>
              <a:spcBef>
                <a:spcPts val="0"/>
              </a:spcBef>
              <a:spcAft>
                <a:spcPts val="0"/>
              </a:spcAft>
              <a:buNone/>
            </a:pPr>
            <a:r>
              <a:rPr lang="ru-RU" sz="4000" b="1" kern="100" dirty="0">
                <a:solidFill>
                  <a:schemeClr val="bg1"/>
                </a:solidFill>
                <a:latin typeface="Cambria" panose="02040503050406030204" pitchFamily="18" charset="0"/>
                <a:ea typeface="Cambria" panose="02040503050406030204" pitchFamily="18" charset="0"/>
                <a:cs typeface="Times New Roman" panose="02020603050405020304" pitchFamily="18" charset="0"/>
              </a:rPr>
              <a:t>Проектная работа-2</a:t>
            </a:r>
          </a:p>
        </p:txBody>
      </p:sp>
      <p:sp>
        <p:nvSpPr>
          <p:cNvPr id="24" name="Right Triangle 16"/>
          <p:cNvSpPr/>
          <p:nvPr/>
        </p:nvSpPr>
        <p:spPr>
          <a:xfrm>
            <a:off x="487363" y="4872038"/>
            <a:ext cx="1628775" cy="1627187"/>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25" name="Рисунок 24"/>
          <p:cNvPicPr>
            <a:picLocks noChangeAspect="1"/>
          </p:cNvPicPr>
          <p:nvPr/>
        </p:nvPicPr>
        <p:blipFill>
          <a:blip r:embed="rId5"/>
          <a:srcRect l="8842" r="8842"/>
          <a:stretch>
            <a:fillRect/>
          </a:stretch>
        </p:blipFill>
        <p:spPr>
          <a:xfrm>
            <a:off x="488044" y="3032145"/>
            <a:ext cx="3948297" cy="3467836"/>
          </a:xfrm>
          <a:prstGeom prst="snip2DiagRect">
            <a:avLst>
              <a:gd name="adj1" fmla="val 0"/>
              <a:gd name="adj2" fmla="val 50000"/>
            </a:avLst>
          </a:prstGeom>
          <a:solidFill>
            <a:schemeClr val="accent4">
              <a:lumMod val="60000"/>
              <a:lumOff val="40000"/>
            </a:schemeClr>
          </a:solidFill>
        </p:spPr>
      </p:pic>
      <p:cxnSp>
        <p:nvCxnSpPr>
          <p:cNvPr id="4" name="Прямая соединительная линия 3"/>
          <p:cNvCxnSpPr>
            <a:cxnSpLocks/>
          </p:cNvCxnSpPr>
          <p:nvPr/>
        </p:nvCxnSpPr>
        <p:spPr>
          <a:xfrm>
            <a:off x="5954713" y="3144838"/>
            <a:ext cx="0" cy="1357312"/>
          </a:xfrm>
          <a:prstGeom prst="line">
            <a:avLst/>
          </a:prstGeom>
          <a:ln w="38100">
            <a:solidFill>
              <a:schemeClr val="bg1"/>
            </a:solidFill>
          </a:ln>
        </p:spPr>
        <p:style>
          <a:lnRef idx="3">
            <a:schemeClr val="accent6"/>
          </a:lnRef>
          <a:fillRef idx="0">
            <a:schemeClr val="accent6"/>
          </a:fillRef>
          <a:effectRef idx="2">
            <a:schemeClr val="accent6"/>
          </a:effectRef>
          <a:fontRef idx="minor">
            <a:schemeClr val="tx1"/>
          </a:fontRef>
        </p:style>
      </p:cxnSp>
      <p:sp>
        <p:nvSpPr>
          <p:cNvPr id="34" name="Shape"/>
          <p:cNvSpPr/>
          <p:nvPr/>
        </p:nvSpPr>
        <p:spPr>
          <a:xfrm>
            <a:off x="0" y="5067300"/>
            <a:ext cx="3265488" cy="1793875"/>
          </a:xfrm>
          <a:custGeom>
            <a:avLst/>
            <a:gdLst/>
            <a:ahLst/>
            <a:cxnLst>
              <a:cxn ang="0">
                <a:pos x="wd2" y="hd2"/>
              </a:cxn>
              <a:cxn ang="5400000">
                <a:pos x="wd2" y="hd2"/>
              </a:cxn>
              <a:cxn ang="10800000">
                <a:pos x="wd2" y="hd2"/>
              </a:cxn>
              <a:cxn ang="16200000">
                <a:pos x="wd2" y="hd2"/>
              </a:cxn>
            </a:cxnLst>
            <a:rect l="0" t="0" r="r" b="b"/>
            <a:pathLst>
              <a:path w="21600" h="20321" extrusionOk="0">
                <a:moveTo>
                  <a:pt x="21600" y="20321"/>
                </a:moveTo>
                <a:cubicBezTo>
                  <a:pt x="21600" y="20321"/>
                  <a:pt x="16562" y="18842"/>
                  <a:pt x="12398" y="8781"/>
                </a:cubicBezTo>
                <a:cubicBezTo>
                  <a:pt x="8235" y="-1279"/>
                  <a:pt x="3134" y="-529"/>
                  <a:pt x="0" y="692"/>
                </a:cubicBezTo>
                <a:lnTo>
                  <a:pt x="0" y="11196"/>
                </a:lnTo>
                <a:cubicBezTo>
                  <a:pt x="0" y="11196"/>
                  <a:pt x="3956" y="4904"/>
                  <a:pt x="9569" y="11196"/>
                </a:cubicBezTo>
                <a:cubicBezTo>
                  <a:pt x="15183" y="17487"/>
                  <a:pt x="16008" y="19984"/>
                  <a:pt x="21600" y="20321"/>
                </a:cubicBezTo>
              </a:path>
            </a:pathLst>
          </a:custGeom>
          <a:solidFill>
            <a:schemeClr val="accent6">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5" name="Shape"/>
          <p:cNvSpPr/>
          <p:nvPr/>
        </p:nvSpPr>
        <p:spPr>
          <a:xfrm>
            <a:off x="0" y="4959350"/>
            <a:ext cx="2586038" cy="757238"/>
          </a:xfrm>
          <a:custGeom>
            <a:avLst/>
            <a:gdLst/>
            <a:ahLst/>
            <a:cxnLst>
              <a:cxn ang="0">
                <a:pos x="wd2" y="hd2"/>
              </a:cxn>
              <a:cxn ang="5400000">
                <a:pos x="wd2" y="hd2"/>
              </a:cxn>
              <a:cxn ang="10800000">
                <a:pos x="wd2" y="hd2"/>
              </a:cxn>
              <a:cxn ang="16200000">
                <a:pos x="wd2" y="hd2"/>
              </a:cxn>
            </a:cxnLst>
            <a:rect l="0" t="0" r="r" b="b"/>
            <a:pathLst>
              <a:path w="21600" h="13908" extrusionOk="0">
                <a:moveTo>
                  <a:pt x="12942" y="962"/>
                </a:moveTo>
                <a:cubicBezTo>
                  <a:pt x="18260" y="-2930"/>
                  <a:pt x="21600" y="6239"/>
                  <a:pt x="21600" y="6239"/>
                </a:cubicBezTo>
                <a:cubicBezTo>
                  <a:pt x="21600" y="6239"/>
                  <a:pt x="16736" y="338"/>
                  <a:pt x="11812" y="9504"/>
                </a:cubicBezTo>
                <a:cubicBezTo>
                  <a:pt x="6888" y="18670"/>
                  <a:pt x="1036" y="11395"/>
                  <a:pt x="0" y="6849"/>
                </a:cubicBezTo>
                <a:lnTo>
                  <a:pt x="41" y="3502"/>
                </a:lnTo>
                <a:cubicBezTo>
                  <a:pt x="2198" y="9422"/>
                  <a:pt x="7625" y="4854"/>
                  <a:pt x="12942" y="962"/>
                </a:cubicBezTo>
              </a:path>
            </a:pathLst>
          </a:custGeom>
          <a:solidFill>
            <a:schemeClr val="accent6">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6" name="Circle"/>
          <p:cNvSpPr/>
          <p:nvPr/>
        </p:nvSpPr>
        <p:spPr>
          <a:xfrm>
            <a:off x="2139950" y="5473700"/>
            <a:ext cx="381000" cy="381000"/>
          </a:xfrm>
          <a:prstGeom prst="ellipse">
            <a:avLst/>
          </a:prstGeom>
          <a:solidFill>
            <a:schemeClr val="accent4">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7" name="Circle"/>
          <p:cNvSpPr/>
          <p:nvPr/>
        </p:nvSpPr>
        <p:spPr>
          <a:xfrm>
            <a:off x="3867150" y="3417888"/>
            <a:ext cx="214313" cy="212725"/>
          </a:xfrm>
          <a:prstGeom prst="ellipse">
            <a:avLst/>
          </a:prstGeom>
          <a:solidFill>
            <a:schemeClr val="accent2">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8" name="Circle"/>
          <p:cNvSpPr/>
          <p:nvPr/>
        </p:nvSpPr>
        <p:spPr>
          <a:xfrm>
            <a:off x="6873875" y="1693863"/>
            <a:ext cx="1195388" cy="1195387"/>
          </a:xfrm>
          <a:prstGeom prst="ellipse">
            <a:avLst/>
          </a:prstGeom>
          <a:solidFill>
            <a:schemeClr val="accent1">
              <a:lumMod val="60000"/>
              <a:lumOff val="40000"/>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9" name="Circle"/>
          <p:cNvSpPr/>
          <p:nvPr/>
        </p:nvSpPr>
        <p:spPr>
          <a:xfrm>
            <a:off x="7429500" y="1747838"/>
            <a:ext cx="584200" cy="584200"/>
          </a:xfrm>
          <a:prstGeom prst="ellipse">
            <a:avLst/>
          </a:prstGeom>
          <a:solidFill>
            <a:schemeClr val="accent1">
              <a:lumMod val="60000"/>
              <a:lumOff val="40000"/>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10265" name="TextBox 41"/>
          <p:cNvSpPr txBox="1">
            <a:spLocks noChangeArrowheads="1"/>
          </p:cNvSpPr>
          <p:nvPr/>
        </p:nvSpPr>
        <p:spPr bwMode="auto">
          <a:xfrm>
            <a:off x="9355406" y="5745163"/>
            <a:ext cx="2613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gn="ctr" eaLnBrk="1" hangingPunct="1">
              <a:lnSpc>
                <a:spcPct val="100000"/>
              </a:lnSpc>
              <a:spcBef>
                <a:spcPct val="0"/>
              </a:spcBef>
              <a:buFontTx/>
              <a:buNone/>
            </a:pPr>
            <a:r>
              <a:rPr lang="ru-RU" altLang="ru-RU" sz="1400" dirty="0">
                <a:solidFill>
                  <a:srgbClr val="002060"/>
                </a:solidFill>
                <a:cs typeface="Arial" panose="020B0604020202020204" pitchFamily="34" charset="0"/>
              </a:rPr>
              <a:t>Маликова </a:t>
            </a:r>
            <a:r>
              <a:rPr lang="ru-RU" altLang="ru-RU" sz="1400" dirty="0" err="1">
                <a:solidFill>
                  <a:srgbClr val="002060"/>
                </a:solidFill>
                <a:cs typeface="Arial" panose="020B0604020202020204" pitchFamily="34" charset="0"/>
              </a:rPr>
              <a:t>Нодира</a:t>
            </a:r>
            <a:r>
              <a:rPr lang="ru-RU" altLang="ru-RU" sz="1400" dirty="0">
                <a:solidFill>
                  <a:srgbClr val="002060"/>
                </a:solidFill>
                <a:cs typeface="Arial" panose="020B0604020202020204" pitchFamily="34" charset="0"/>
              </a:rPr>
              <a:t> </a:t>
            </a:r>
            <a:r>
              <a:rPr lang="ru-RU" altLang="ru-RU" sz="1400" dirty="0" err="1">
                <a:solidFill>
                  <a:srgbClr val="002060"/>
                </a:solidFill>
                <a:cs typeface="Arial" panose="020B0604020202020204" pitchFamily="34" charset="0"/>
              </a:rPr>
              <a:t>Тургуновна</a:t>
            </a:r>
            <a:endParaRPr lang="en-US" altLang="ru-RU" sz="1400" dirty="0">
              <a:solidFill>
                <a:srgbClr val="002060"/>
              </a:solidFill>
              <a:cs typeface="Arial" panose="020B0604020202020204" pitchFamily="34" charset="0"/>
            </a:endParaRPr>
          </a:p>
        </p:txBody>
      </p:sp>
      <p:sp>
        <p:nvSpPr>
          <p:cNvPr id="10266" name="TextBox 79"/>
          <p:cNvSpPr txBox="1">
            <a:spLocks noChangeArrowheads="1"/>
          </p:cNvSpPr>
          <p:nvPr/>
        </p:nvSpPr>
        <p:spPr bwMode="auto">
          <a:xfrm>
            <a:off x="9355406" y="6331856"/>
            <a:ext cx="29297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eaLnBrk="1" hangingPunct="1">
              <a:lnSpc>
                <a:spcPct val="100000"/>
              </a:lnSpc>
              <a:spcBef>
                <a:spcPct val="0"/>
              </a:spcBef>
              <a:buFontTx/>
              <a:buNone/>
            </a:pPr>
            <a:r>
              <a:rPr lang="ru-RU" altLang="ru-RU" sz="1200" dirty="0">
                <a:solidFill>
                  <a:srgbClr val="002060"/>
                </a:solidFill>
                <a:cs typeface="Arial" panose="020B0604020202020204" pitchFamily="34" charset="0"/>
              </a:rPr>
              <a:t>Доцент кафедры «Конвергенция цифровых технологий»</a:t>
            </a:r>
          </a:p>
        </p:txBody>
      </p:sp>
      <p:pic>
        <p:nvPicPr>
          <p:cNvPr id="10267" name="Рисунок 13" descr="Преподаватель"/>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577191" y="5897563"/>
            <a:ext cx="522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8" name="Рисунок 15" descr="Суд"/>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20861" y="6382958"/>
            <a:ext cx="4254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Прямая соединительная линия 17"/>
          <p:cNvCxnSpPr>
            <a:cxnSpLocks/>
          </p:cNvCxnSpPr>
          <p:nvPr/>
        </p:nvCxnSpPr>
        <p:spPr>
          <a:xfrm>
            <a:off x="9192644" y="5845721"/>
            <a:ext cx="9525" cy="952500"/>
          </a:xfrm>
          <a:prstGeom prst="line">
            <a:avLst/>
          </a:prstGeom>
        </p:spPr>
        <p:style>
          <a:lnRef idx="3">
            <a:schemeClr val="accent1"/>
          </a:lnRef>
          <a:fillRef idx="0">
            <a:schemeClr val="accent1"/>
          </a:fillRef>
          <a:effectRef idx="2">
            <a:schemeClr val="accent1"/>
          </a:effectRef>
          <a:fontRef idx="minor">
            <a:schemeClr val="tx1"/>
          </a:fontRef>
        </p:style>
      </p:cxnSp>
      <p:sp>
        <p:nvSpPr>
          <p:cNvPr id="67" name="Shape"/>
          <p:cNvSpPr/>
          <p:nvPr/>
        </p:nvSpPr>
        <p:spPr>
          <a:xfrm>
            <a:off x="9415463" y="3856038"/>
            <a:ext cx="2776537" cy="1524000"/>
          </a:xfrm>
          <a:custGeom>
            <a:avLst/>
            <a:gdLst/>
            <a:ahLst/>
            <a:cxnLst>
              <a:cxn ang="0">
                <a:pos x="wd2" y="hd2"/>
              </a:cxn>
              <a:cxn ang="5400000">
                <a:pos x="wd2" y="hd2"/>
              </a:cxn>
              <a:cxn ang="10800000">
                <a:pos x="wd2" y="hd2"/>
              </a:cxn>
              <a:cxn ang="16200000">
                <a:pos x="wd2" y="hd2"/>
              </a:cxn>
            </a:cxnLst>
            <a:rect l="0" t="0" r="r" b="b"/>
            <a:pathLst>
              <a:path w="21600" h="20321" extrusionOk="0">
                <a:moveTo>
                  <a:pt x="0" y="0"/>
                </a:moveTo>
                <a:cubicBezTo>
                  <a:pt x="0" y="0"/>
                  <a:pt x="5038" y="1479"/>
                  <a:pt x="9202" y="11540"/>
                </a:cubicBezTo>
                <a:cubicBezTo>
                  <a:pt x="13365" y="21600"/>
                  <a:pt x="18466" y="20850"/>
                  <a:pt x="21600" y="19629"/>
                </a:cubicBezTo>
                <a:lnTo>
                  <a:pt x="21600" y="9125"/>
                </a:lnTo>
                <a:cubicBezTo>
                  <a:pt x="21600" y="9125"/>
                  <a:pt x="17644" y="15417"/>
                  <a:pt x="12031" y="9125"/>
                </a:cubicBezTo>
                <a:cubicBezTo>
                  <a:pt x="6417" y="2834"/>
                  <a:pt x="5592" y="337"/>
                  <a:pt x="0" y="0"/>
                </a:cubicBezTo>
              </a:path>
            </a:pathLst>
          </a:custGeom>
          <a:solidFill>
            <a:schemeClr val="accent3">
              <a:lumMod val="75000"/>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dirty="0">
              <a:solidFill>
                <a:srgbClr val="FFFFFF"/>
              </a:solidFill>
              <a:effectLst>
                <a:outerShdw blurRad="38100" dist="12700" dir="5400000" rotWithShape="0">
                  <a:srgbClr val="000000">
                    <a:alpha val="50000"/>
                  </a:srgbClr>
                </a:outerShdw>
              </a:effectLst>
              <a:latin typeface="+mn-lt"/>
            </a:endParaRPr>
          </a:p>
        </p:txBody>
      </p:sp>
      <p:sp>
        <p:nvSpPr>
          <p:cNvPr id="73" name="Прямоугольник 72"/>
          <p:cNvSpPr/>
          <p:nvPr/>
        </p:nvSpPr>
        <p:spPr>
          <a:xfrm>
            <a:off x="10853738" y="-1588"/>
            <a:ext cx="44450" cy="1155701"/>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74" name="Прямоугольник 73"/>
          <p:cNvSpPr/>
          <p:nvPr/>
        </p:nvSpPr>
        <p:spPr>
          <a:xfrm>
            <a:off x="10702925" y="0"/>
            <a:ext cx="87313" cy="1154113"/>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75" name="Прямоугольник 74"/>
          <p:cNvSpPr/>
          <p:nvPr/>
        </p:nvSpPr>
        <p:spPr>
          <a:xfrm>
            <a:off x="10501313" y="0"/>
            <a:ext cx="169862" cy="1154113"/>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76" name="Circle"/>
          <p:cNvSpPr/>
          <p:nvPr/>
        </p:nvSpPr>
        <p:spPr>
          <a:xfrm>
            <a:off x="10079038" y="-26988"/>
            <a:ext cx="1195387" cy="1195388"/>
          </a:xfrm>
          <a:prstGeom prst="ellipse">
            <a:avLst/>
          </a:prstGeom>
          <a:solidFill>
            <a:schemeClr val="accent3">
              <a:lumMod val="60000"/>
              <a:lumOff val="40000"/>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7" name="Circle"/>
          <p:cNvSpPr/>
          <p:nvPr/>
        </p:nvSpPr>
        <p:spPr>
          <a:xfrm>
            <a:off x="10383838" y="277813"/>
            <a:ext cx="584200" cy="584200"/>
          </a:xfrm>
          <a:prstGeom prst="ellipse">
            <a:avLst/>
          </a:prstGeom>
          <a:solidFill>
            <a:schemeClr val="accent3">
              <a:lumMod val="60000"/>
              <a:lumOff val="40000"/>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82" name="Circle"/>
          <p:cNvSpPr/>
          <p:nvPr/>
        </p:nvSpPr>
        <p:spPr>
          <a:xfrm>
            <a:off x="6446838" y="5514975"/>
            <a:ext cx="381000" cy="382588"/>
          </a:xfrm>
          <a:prstGeom prst="ellipse">
            <a:avLst/>
          </a:prstGeom>
          <a:solidFill>
            <a:schemeClr val="accent4">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83" name="Circle"/>
          <p:cNvSpPr/>
          <p:nvPr/>
        </p:nvSpPr>
        <p:spPr>
          <a:xfrm>
            <a:off x="6573838" y="5648325"/>
            <a:ext cx="125412" cy="127000"/>
          </a:xfrm>
          <a:prstGeom prst="ellipse">
            <a:avLst/>
          </a:prstGeom>
          <a:solidFill>
            <a:schemeClr val="accent4">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nvGrpSpPr>
          <p:cNvPr id="40" name="Group 7"/>
          <p:cNvGrpSpPr>
            <a:grpSpLocks/>
          </p:cNvGrpSpPr>
          <p:nvPr/>
        </p:nvGrpSpPr>
        <p:grpSpPr bwMode="auto">
          <a:xfrm flipH="1">
            <a:off x="7996238" y="-6350"/>
            <a:ext cx="4203700" cy="728663"/>
            <a:chOff x="0" y="0"/>
            <a:chExt cx="11523664" cy="1997050"/>
          </a:xfrm>
          <a:solidFill>
            <a:srgbClr val="0070C0"/>
          </a:solidFill>
        </p:grpSpPr>
        <p:sp>
          <p:nvSpPr>
            <p:cNvPr id="41" name="Shape"/>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42" name="Shape"/>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43" name="Shape"/>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44" name="Shape"/>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pic>
        <p:nvPicPr>
          <p:cNvPr id="5" name="Рисунок 4">
            <a:extLst>
              <a:ext uri="{FF2B5EF4-FFF2-40B4-BE49-F238E27FC236}">
                <a16:creationId xmlns:a16="http://schemas.microsoft.com/office/drawing/2014/main" id="{C019823A-29EF-52CC-ACAA-03D137A57CE8}"/>
              </a:ext>
            </a:extLst>
          </p:cNvPr>
          <p:cNvPicPr>
            <a:picLocks noChangeAspect="1"/>
          </p:cNvPicPr>
          <p:nvPr/>
        </p:nvPicPr>
        <p:blipFill>
          <a:blip r:embed="rId8"/>
          <a:stretch>
            <a:fillRect/>
          </a:stretch>
        </p:blipFill>
        <p:spPr>
          <a:xfrm>
            <a:off x="4671361" y="3109939"/>
            <a:ext cx="1008669" cy="1008669"/>
          </a:xfrm>
          <a:prstGeom prst="rect">
            <a:avLst/>
          </a:prstGeom>
        </p:spPr>
      </p:pic>
      <p:sp>
        <p:nvSpPr>
          <p:cNvPr id="10251" name="POWERPOINT TEMPLATE"/>
          <p:cNvSpPr>
            <a:spLocks noChangeArrowheads="1"/>
          </p:cNvSpPr>
          <p:nvPr/>
        </p:nvSpPr>
        <p:spPr bwMode="auto">
          <a:xfrm>
            <a:off x="4501810" y="4199062"/>
            <a:ext cx="15065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38100" tIns="38100" rIns="38100" bIns="38100" anchor="ctr">
            <a:spAutoFit/>
          </a:bodyPr>
          <a:lstStyle>
            <a:lvl1pPr>
              <a:lnSpc>
                <a:spcPct val="90000"/>
              </a:lnSpc>
              <a:spcBef>
                <a:spcPts val="1000"/>
              </a:spcBef>
              <a:buFont typeface="Arial" panose="020B0604020202020204" pitchFamily="34" charset="0"/>
              <a:buChar char="•"/>
              <a:tabLst>
                <a:tab pos="1066800" algn="l"/>
              </a:tabLst>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tabLst>
                <a:tab pos="1066800" algn="l"/>
              </a:tabLst>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tabLst>
                <a:tab pos="1066800" algn="l"/>
              </a:tabLst>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9pPr>
          </a:lstStyle>
          <a:p>
            <a:pPr algn="ctr" eaLnBrk="1" hangingPunct="1">
              <a:lnSpc>
                <a:spcPct val="100000"/>
              </a:lnSpc>
              <a:spcBef>
                <a:spcPct val="0"/>
              </a:spcBef>
              <a:buFontTx/>
              <a:buNone/>
            </a:pPr>
            <a:r>
              <a:rPr lang="en-US" altLang="ru-RU" sz="1600" b="1" dirty="0">
                <a:solidFill>
                  <a:schemeClr val="bg1"/>
                </a:solidFill>
                <a:cs typeface="Arial" panose="020B0604020202020204" pitchFamily="34" charset="0"/>
                <a:sym typeface="Arial" panose="020B0604020202020204" pitchFamily="34" charset="0"/>
              </a:rPr>
              <a:t>INDP12MBK</a:t>
            </a:r>
            <a:endParaRPr lang="ru-RU" altLang="ru-RU" sz="1400" b="1" dirty="0">
              <a:solidFill>
                <a:schemeClr val="bg1"/>
              </a:solidFill>
              <a:cs typeface="Arial" panose="020B0604020202020204" pitchFamily="34" charset="0"/>
              <a:sym typeface="Arial" panose="020B0604020202020204" pitchFamily="34" charset="0"/>
            </a:endParaRPr>
          </a:p>
        </p:txBody>
      </p:sp>
      <p:pic>
        <p:nvPicPr>
          <p:cNvPr id="2" name="Рисунок 1"/>
          <p:cNvPicPr>
            <a:picLocks noChangeAspect="1"/>
          </p:cNvPicPr>
          <p:nvPr/>
        </p:nvPicPr>
        <p:blipFill>
          <a:blip r:embed="rId9"/>
          <a:stretch>
            <a:fillRect/>
          </a:stretch>
        </p:blipFill>
        <p:spPr>
          <a:xfrm>
            <a:off x="2860665" y="4478774"/>
            <a:ext cx="9738021" cy="9139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43662A-E614-4B48-963F-E60E570E4DBE}"/>
              </a:ext>
            </a:extLst>
          </p:cNvPr>
          <p:cNvSpPr>
            <a:spLocks noGrp="1"/>
          </p:cNvSpPr>
          <p:nvPr>
            <p:ph type="title"/>
          </p:nvPr>
        </p:nvSpPr>
        <p:spPr/>
        <p:txBody>
          <a:bodyPr/>
          <a:lstStyle/>
          <a:p>
            <a:r>
              <a:rPr lang="ru-RU" altLang="ru-RU" dirty="0"/>
              <a:t>План работы</a:t>
            </a:r>
            <a:endParaRPr lang="ru-RU" dirty="0"/>
          </a:p>
        </p:txBody>
      </p:sp>
      <p:grpSp>
        <p:nvGrpSpPr>
          <p:cNvPr id="4" name="Group 7">
            <a:extLst>
              <a:ext uri="{FF2B5EF4-FFF2-40B4-BE49-F238E27FC236}">
                <a16:creationId xmlns:a16="http://schemas.microsoft.com/office/drawing/2014/main" id="{E11C5FC2-1F4E-49AD-858A-3A7B957FBE54}"/>
              </a:ext>
            </a:extLst>
          </p:cNvPr>
          <p:cNvGrpSpPr>
            <a:grpSpLocks/>
          </p:cNvGrpSpPr>
          <p:nvPr/>
        </p:nvGrpSpPr>
        <p:grpSpPr bwMode="auto">
          <a:xfrm>
            <a:off x="7303365" y="2100850"/>
            <a:ext cx="4524188" cy="546097"/>
            <a:chOff x="1248" y="2014"/>
            <a:chExt cx="2944" cy="347"/>
          </a:xfrm>
        </p:grpSpPr>
        <p:sp>
          <p:nvSpPr>
            <p:cNvPr id="5" name="Line 8">
              <a:extLst>
                <a:ext uri="{FF2B5EF4-FFF2-40B4-BE49-F238E27FC236}">
                  <a16:creationId xmlns:a16="http://schemas.microsoft.com/office/drawing/2014/main" id="{EDC5D2DB-C279-4059-B98E-B5FB9C464F7C}"/>
                </a:ext>
              </a:extLst>
            </p:cNvPr>
            <p:cNvSpPr>
              <a:spLocks noChangeShapeType="1"/>
            </p:cNvSpPr>
            <p:nvPr/>
          </p:nvSpPr>
          <p:spPr bwMode="gray">
            <a:xfrm flipV="1">
              <a:off x="1803" y="2361"/>
              <a:ext cx="2389" cy="0"/>
            </a:xfrm>
            <a:prstGeom prst="line">
              <a:avLst/>
            </a:prstGeom>
            <a:noFill/>
            <a:ln w="25400">
              <a:solidFill>
                <a:srgbClr val="969696"/>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sz="2000"/>
            </a:p>
          </p:txBody>
        </p:sp>
        <p:sp>
          <p:nvSpPr>
            <p:cNvPr id="6" name="Rectangle 9">
              <a:extLst>
                <a:ext uri="{FF2B5EF4-FFF2-40B4-BE49-F238E27FC236}">
                  <a16:creationId xmlns:a16="http://schemas.microsoft.com/office/drawing/2014/main" id="{9ACF0D2C-0AC6-4EA5-804F-C7DBC9A0451E}"/>
                </a:ext>
              </a:extLst>
            </p:cNvPr>
            <p:cNvSpPr>
              <a:spLocks noChangeArrowheads="1"/>
            </p:cNvSpPr>
            <p:nvPr/>
          </p:nvSpPr>
          <p:spPr bwMode="gray">
            <a:xfrm rot="3419336">
              <a:off x="1261" y="2017"/>
              <a:ext cx="302" cy="328"/>
            </a:xfrm>
            <a:prstGeom prst="rect">
              <a:avLst/>
            </a:prstGeom>
            <a:gradFill rotWithShape="1">
              <a:gsLst>
                <a:gs pos="0">
                  <a:srgbClr val="99CC00"/>
                </a:gs>
                <a:gs pos="100000">
                  <a:srgbClr val="475E00"/>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99CC00"/>
              </a:extrusionClr>
              <a:contourClr>
                <a:srgbClr val="99CC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endParaRPr lang="ru-RU" altLang="ru-RU" sz="2000"/>
            </a:p>
          </p:txBody>
        </p:sp>
        <p:sp>
          <p:nvSpPr>
            <p:cNvPr id="7" name="Text Box 10">
              <a:extLst>
                <a:ext uri="{FF2B5EF4-FFF2-40B4-BE49-F238E27FC236}">
                  <a16:creationId xmlns:a16="http://schemas.microsoft.com/office/drawing/2014/main" id="{C48F2373-4E6F-4E82-A50B-D5F0275280FB}"/>
                </a:ext>
              </a:extLst>
            </p:cNvPr>
            <p:cNvSpPr txBox="1">
              <a:spLocks noChangeArrowheads="1"/>
            </p:cNvSpPr>
            <p:nvPr/>
          </p:nvSpPr>
          <p:spPr bwMode="gray">
            <a:xfrm>
              <a:off x="1781" y="2014"/>
              <a:ext cx="2341"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r>
                <a:rPr lang="ru-RU" sz="2000" dirty="0">
                  <a:latin typeface="Times New Roman" panose="02020603050405020304" pitchFamily="18" charset="0"/>
                  <a:cs typeface="Times New Roman" panose="02020603050405020304" pitchFamily="18" charset="0"/>
                </a:rPr>
                <a:t>ЦЕЛЬ ПРОЕКТНОЙ РАБОТЫ</a:t>
              </a:r>
              <a:r>
                <a:rPr lang="ru-RU" sz="2000" dirty="0">
                  <a:latin typeface="Cambria" panose="02040503050406030204" pitchFamily="18" charset="0"/>
                </a:rPr>
                <a:t>.</a:t>
              </a:r>
              <a:endParaRPr lang="en-US" altLang="ru-RU" sz="2000" dirty="0">
                <a:latin typeface="Cambria" panose="02040503050406030204" pitchFamily="18" charset="0"/>
                <a:cs typeface="Times New Roman" panose="02020603050405020304" pitchFamily="18" charset="0"/>
              </a:endParaRPr>
            </a:p>
          </p:txBody>
        </p:sp>
        <p:sp>
          <p:nvSpPr>
            <p:cNvPr id="8" name="Text Box 11">
              <a:extLst>
                <a:ext uri="{FF2B5EF4-FFF2-40B4-BE49-F238E27FC236}">
                  <a16:creationId xmlns:a16="http://schemas.microsoft.com/office/drawing/2014/main" id="{49098CDE-200B-4C67-9CF4-897BC0CEAD69}"/>
                </a:ext>
              </a:extLst>
            </p:cNvPr>
            <p:cNvSpPr txBox="1">
              <a:spLocks noChangeArrowheads="1"/>
            </p:cNvSpPr>
            <p:nvPr/>
          </p:nvSpPr>
          <p:spPr bwMode="gray">
            <a:xfrm>
              <a:off x="1296" y="2044"/>
              <a:ext cx="2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r>
                <a:rPr lang="en-US" altLang="ru-RU" sz="2000" b="1">
                  <a:solidFill>
                    <a:srgbClr val="FFFFFF"/>
                  </a:solidFill>
                </a:rPr>
                <a:t>1</a:t>
              </a:r>
            </a:p>
          </p:txBody>
        </p:sp>
      </p:grpSp>
      <p:grpSp>
        <p:nvGrpSpPr>
          <p:cNvPr id="9" name="Group 12">
            <a:extLst>
              <a:ext uri="{FF2B5EF4-FFF2-40B4-BE49-F238E27FC236}">
                <a16:creationId xmlns:a16="http://schemas.microsoft.com/office/drawing/2014/main" id="{C5B94168-1CA0-4D36-BFD4-8B0F4645D658}"/>
              </a:ext>
            </a:extLst>
          </p:cNvPr>
          <p:cNvGrpSpPr>
            <a:grpSpLocks/>
          </p:cNvGrpSpPr>
          <p:nvPr/>
        </p:nvGrpSpPr>
        <p:grpSpPr bwMode="auto">
          <a:xfrm>
            <a:off x="5354720" y="3449246"/>
            <a:ext cx="8280000" cy="567173"/>
            <a:chOff x="1247" y="2468"/>
            <a:chExt cx="6076" cy="514"/>
          </a:xfrm>
        </p:grpSpPr>
        <p:sp>
          <p:nvSpPr>
            <p:cNvPr id="10" name="Line 13">
              <a:extLst>
                <a:ext uri="{FF2B5EF4-FFF2-40B4-BE49-F238E27FC236}">
                  <a16:creationId xmlns:a16="http://schemas.microsoft.com/office/drawing/2014/main" id="{10DEEE48-59E0-4D3B-8094-BCD160723E33}"/>
                </a:ext>
              </a:extLst>
            </p:cNvPr>
            <p:cNvSpPr>
              <a:spLocks noChangeShapeType="1"/>
            </p:cNvSpPr>
            <p:nvPr/>
          </p:nvSpPr>
          <p:spPr bwMode="gray">
            <a:xfrm flipV="1">
              <a:off x="1440" y="2982"/>
              <a:ext cx="4692" cy="0"/>
            </a:xfrm>
            <a:prstGeom prst="line">
              <a:avLst/>
            </a:prstGeom>
            <a:noFill/>
            <a:ln w="25400">
              <a:solidFill>
                <a:srgbClr val="969696"/>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sz="2000"/>
            </a:p>
          </p:txBody>
        </p:sp>
        <p:sp>
          <p:nvSpPr>
            <p:cNvPr id="11" name="Rectangle 14">
              <a:extLst>
                <a:ext uri="{FF2B5EF4-FFF2-40B4-BE49-F238E27FC236}">
                  <a16:creationId xmlns:a16="http://schemas.microsoft.com/office/drawing/2014/main" id="{7B849E8B-1E2A-431D-BD9F-0ED5014A1765}"/>
                </a:ext>
              </a:extLst>
            </p:cNvPr>
            <p:cNvSpPr>
              <a:spLocks noChangeArrowheads="1"/>
            </p:cNvSpPr>
            <p:nvPr/>
          </p:nvSpPr>
          <p:spPr bwMode="gray">
            <a:xfrm rot="3419336">
              <a:off x="1281" y="2448"/>
              <a:ext cx="339" cy="408"/>
            </a:xfrm>
            <a:prstGeom prst="rect">
              <a:avLst/>
            </a:prstGeom>
            <a:gradFill rotWithShape="1">
              <a:gsLst>
                <a:gs pos="0">
                  <a:srgbClr val="006699"/>
                </a:gs>
                <a:gs pos="100000">
                  <a:srgbClr val="002F47"/>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006699"/>
              </a:extrusionClr>
              <a:contourClr>
                <a:srgbClr val="006699"/>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endParaRPr lang="ru-RU" altLang="ru-RU" sz="2000"/>
            </a:p>
          </p:txBody>
        </p:sp>
        <p:sp>
          <p:nvSpPr>
            <p:cNvPr id="12" name="Text Box 15">
              <a:extLst>
                <a:ext uri="{FF2B5EF4-FFF2-40B4-BE49-F238E27FC236}">
                  <a16:creationId xmlns:a16="http://schemas.microsoft.com/office/drawing/2014/main" id="{EFB9C824-2FE4-4DA1-AE22-9C88629D1D97}"/>
                </a:ext>
              </a:extLst>
            </p:cNvPr>
            <p:cNvSpPr txBox="1">
              <a:spLocks noChangeArrowheads="1"/>
            </p:cNvSpPr>
            <p:nvPr/>
          </p:nvSpPr>
          <p:spPr bwMode="gray">
            <a:xfrm>
              <a:off x="1916" y="2468"/>
              <a:ext cx="5407"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buNone/>
              </a:pPr>
              <a:r>
                <a:rPr lang="ru-RU" sz="2000" dirty="0">
                  <a:latin typeface="Times New Roman" panose="02020603050405020304" pitchFamily="18" charset="0"/>
                  <a:cs typeface="Times New Roman" panose="02020603050405020304" pitchFamily="18" charset="0"/>
                </a:rPr>
                <a:t>ЗАДАЧА ПРОЕКТНОЙ РАБОТЫ</a:t>
              </a:r>
              <a:endParaRPr lang="en-US" altLang="ru-RU" sz="2000" dirty="0">
                <a:latin typeface="Times New Roman" panose="02020603050405020304" pitchFamily="18" charset="0"/>
                <a:cs typeface="Times New Roman" panose="02020603050405020304" pitchFamily="18" charset="0"/>
              </a:endParaRPr>
            </a:p>
          </p:txBody>
        </p:sp>
        <p:sp>
          <p:nvSpPr>
            <p:cNvPr id="13" name="Text Box 16">
              <a:extLst>
                <a:ext uri="{FF2B5EF4-FFF2-40B4-BE49-F238E27FC236}">
                  <a16:creationId xmlns:a16="http://schemas.microsoft.com/office/drawing/2014/main" id="{B55EAE8B-A25B-4198-8290-DEB9547B5F57}"/>
                </a:ext>
              </a:extLst>
            </p:cNvPr>
            <p:cNvSpPr txBox="1">
              <a:spLocks noChangeArrowheads="1"/>
            </p:cNvSpPr>
            <p:nvPr/>
          </p:nvSpPr>
          <p:spPr bwMode="gray">
            <a:xfrm>
              <a:off x="1348" y="2484"/>
              <a:ext cx="18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r>
                <a:rPr lang="en-US" altLang="ru-RU" sz="2000" b="1">
                  <a:solidFill>
                    <a:srgbClr val="FFFFFF"/>
                  </a:solidFill>
                </a:rPr>
                <a:t>2</a:t>
              </a:r>
            </a:p>
          </p:txBody>
        </p:sp>
      </p:grpSp>
      <p:grpSp>
        <p:nvGrpSpPr>
          <p:cNvPr id="14" name="Group 17">
            <a:extLst>
              <a:ext uri="{FF2B5EF4-FFF2-40B4-BE49-F238E27FC236}">
                <a16:creationId xmlns:a16="http://schemas.microsoft.com/office/drawing/2014/main" id="{6A996A3C-6BD2-4137-A87C-1F76E4C0A068}"/>
              </a:ext>
            </a:extLst>
          </p:cNvPr>
          <p:cNvGrpSpPr>
            <a:grpSpLocks/>
          </p:cNvGrpSpPr>
          <p:nvPr/>
        </p:nvGrpSpPr>
        <p:grpSpPr bwMode="auto">
          <a:xfrm>
            <a:off x="4729018" y="4948963"/>
            <a:ext cx="8089895" cy="576000"/>
            <a:chOff x="1248" y="3208"/>
            <a:chExt cx="5089" cy="371"/>
          </a:xfrm>
        </p:grpSpPr>
        <p:sp>
          <p:nvSpPr>
            <p:cNvPr id="15" name="Line 18">
              <a:extLst>
                <a:ext uri="{FF2B5EF4-FFF2-40B4-BE49-F238E27FC236}">
                  <a16:creationId xmlns:a16="http://schemas.microsoft.com/office/drawing/2014/main" id="{E28C0531-640D-443F-B55F-1BE99D39EDFB}"/>
                </a:ext>
              </a:extLst>
            </p:cNvPr>
            <p:cNvSpPr>
              <a:spLocks noChangeShapeType="1"/>
            </p:cNvSpPr>
            <p:nvPr/>
          </p:nvSpPr>
          <p:spPr bwMode="gray">
            <a:xfrm flipV="1">
              <a:off x="1441" y="3579"/>
              <a:ext cx="4165" cy="0"/>
            </a:xfrm>
            <a:prstGeom prst="line">
              <a:avLst/>
            </a:prstGeom>
            <a:noFill/>
            <a:ln w="25400">
              <a:solidFill>
                <a:srgbClr val="969696"/>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6" name="Rectangle 19">
              <a:extLst>
                <a:ext uri="{FF2B5EF4-FFF2-40B4-BE49-F238E27FC236}">
                  <a16:creationId xmlns:a16="http://schemas.microsoft.com/office/drawing/2014/main" id="{3B0F5FF4-2BC3-42F0-849C-3F708275F5C1}"/>
                </a:ext>
              </a:extLst>
            </p:cNvPr>
            <p:cNvSpPr>
              <a:spLocks noChangeArrowheads="1"/>
            </p:cNvSpPr>
            <p:nvPr/>
          </p:nvSpPr>
          <p:spPr bwMode="gray">
            <a:xfrm rot="3419336">
              <a:off x="1261" y="3217"/>
              <a:ext cx="302" cy="328"/>
            </a:xfrm>
            <a:prstGeom prst="rect">
              <a:avLst/>
            </a:prstGeom>
            <a:gradFill rotWithShape="1">
              <a:gsLst>
                <a:gs pos="0">
                  <a:srgbClr val="FF9933"/>
                </a:gs>
                <a:gs pos="100000">
                  <a:srgbClr val="764718"/>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rgbClr val="FF9933"/>
              </a:extrusionClr>
              <a:contourClr>
                <a:srgbClr val="FF9933"/>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endParaRPr lang="ru-RU" altLang="ru-RU" sz="1800"/>
            </a:p>
          </p:txBody>
        </p:sp>
        <p:sp>
          <p:nvSpPr>
            <p:cNvPr id="17" name="Text Box 20">
              <a:extLst>
                <a:ext uri="{FF2B5EF4-FFF2-40B4-BE49-F238E27FC236}">
                  <a16:creationId xmlns:a16="http://schemas.microsoft.com/office/drawing/2014/main" id="{F6222790-1699-4095-A22E-4582A1C63E50}"/>
                </a:ext>
              </a:extLst>
            </p:cNvPr>
            <p:cNvSpPr txBox="1">
              <a:spLocks noChangeArrowheads="1"/>
            </p:cNvSpPr>
            <p:nvPr/>
          </p:nvSpPr>
          <p:spPr bwMode="gray">
            <a:xfrm>
              <a:off x="1781" y="3208"/>
              <a:ext cx="4556"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buNone/>
              </a:pPr>
              <a:r>
                <a:rPr lang="ru-RU" sz="2000" dirty="0">
                  <a:latin typeface="Times New Roman" panose="02020603050405020304" pitchFamily="18" charset="0"/>
                  <a:cs typeface="Times New Roman" panose="02020603050405020304" pitchFamily="18" charset="0"/>
                </a:rPr>
                <a:t>ОБЩАЯ СТРУКТУРА ИНДИВИДУАЛЬНОГО ПРОЕКТА</a:t>
              </a:r>
            </a:p>
          </p:txBody>
        </p:sp>
        <p:sp>
          <p:nvSpPr>
            <p:cNvPr id="18" name="Text Box 21">
              <a:extLst>
                <a:ext uri="{FF2B5EF4-FFF2-40B4-BE49-F238E27FC236}">
                  <a16:creationId xmlns:a16="http://schemas.microsoft.com/office/drawing/2014/main" id="{F208BF9C-D5FA-4D34-983B-BEC19A724590}"/>
                </a:ext>
              </a:extLst>
            </p:cNvPr>
            <p:cNvSpPr txBox="1">
              <a:spLocks noChangeArrowheads="1"/>
            </p:cNvSpPr>
            <p:nvPr/>
          </p:nvSpPr>
          <p:spPr bwMode="gray">
            <a:xfrm>
              <a:off x="1296" y="3244"/>
              <a:ext cx="342" cy="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r>
                <a:rPr lang="en-US" altLang="ru-RU" sz="2400" b="1" dirty="0">
                  <a:solidFill>
                    <a:srgbClr val="FFFFFF"/>
                  </a:solidFill>
                </a:rPr>
                <a:t>3</a:t>
              </a:r>
            </a:p>
          </p:txBody>
        </p:sp>
      </p:grpSp>
      <p:grpSp>
        <p:nvGrpSpPr>
          <p:cNvPr id="19" name="Group 7">
            <a:extLst>
              <a:ext uri="{FF2B5EF4-FFF2-40B4-BE49-F238E27FC236}">
                <a16:creationId xmlns:a16="http://schemas.microsoft.com/office/drawing/2014/main" id="{15B92A1C-5B6A-443E-B0AD-51CEC4DB4EFB}"/>
              </a:ext>
            </a:extLst>
          </p:cNvPr>
          <p:cNvGrpSpPr>
            <a:grpSpLocks/>
          </p:cNvGrpSpPr>
          <p:nvPr/>
        </p:nvGrpSpPr>
        <p:grpSpPr bwMode="auto">
          <a:xfrm flipH="1">
            <a:off x="7996238" y="-6350"/>
            <a:ext cx="4203700" cy="728663"/>
            <a:chOff x="0" y="0"/>
            <a:chExt cx="11523664" cy="1997050"/>
          </a:xfrm>
          <a:solidFill>
            <a:schemeClr val="accent1"/>
          </a:solidFill>
        </p:grpSpPr>
        <p:sp>
          <p:nvSpPr>
            <p:cNvPr id="20" name="Shape">
              <a:extLst>
                <a:ext uri="{FF2B5EF4-FFF2-40B4-BE49-F238E27FC236}">
                  <a16:creationId xmlns:a16="http://schemas.microsoft.com/office/drawing/2014/main" id="{AA0A2F6C-FAEF-4631-9E4D-9E95D85162A6}"/>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21" name="Shape">
              <a:extLst>
                <a:ext uri="{FF2B5EF4-FFF2-40B4-BE49-F238E27FC236}">
                  <a16:creationId xmlns:a16="http://schemas.microsoft.com/office/drawing/2014/main" id="{3C098270-490A-4A5F-A2FD-74C433A81B27}"/>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22" name="Shape">
              <a:extLst>
                <a:ext uri="{FF2B5EF4-FFF2-40B4-BE49-F238E27FC236}">
                  <a16:creationId xmlns:a16="http://schemas.microsoft.com/office/drawing/2014/main" id="{6AD152AB-1B75-40E1-975C-68F8FD859FF3}"/>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23" name="Shape">
              <a:extLst>
                <a:ext uri="{FF2B5EF4-FFF2-40B4-BE49-F238E27FC236}">
                  <a16:creationId xmlns:a16="http://schemas.microsoft.com/office/drawing/2014/main" id="{7CC4D986-1414-4B67-951F-6ED47C865A27}"/>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pic>
        <p:nvPicPr>
          <p:cNvPr id="3" name="Рисунок 2"/>
          <p:cNvPicPr>
            <a:picLocks noChangeAspect="1"/>
          </p:cNvPicPr>
          <p:nvPr/>
        </p:nvPicPr>
        <p:blipFill>
          <a:blip r:embed="rId3"/>
          <a:stretch>
            <a:fillRect/>
          </a:stretch>
        </p:blipFill>
        <p:spPr>
          <a:xfrm>
            <a:off x="463923" y="1142894"/>
            <a:ext cx="4533760" cy="3461763"/>
          </a:xfrm>
          <a:prstGeom prst="rect">
            <a:avLst/>
          </a:prstGeom>
        </p:spPr>
      </p:pic>
    </p:spTree>
    <p:extLst>
      <p:ext uri="{BB962C8B-B14F-4D97-AF65-F5344CB8AC3E}">
        <p14:creationId xmlns:p14="http://schemas.microsoft.com/office/powerpoint/2010/main" val="101188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7">
            <a:extLst>
              <a:ext uri="{FF2B5EF4-FFF2-40B4-BE49-F238E27FC236}">
                <a16:creationId xmlns:a16="http://schemas.microsoft.com/office/drawing/2014/main" id="{50135961-C05F-47CE-9102-E75B107B3F59}"/>
              </a:ext>
            </a:extLst>
          </p:cNvPr>
          <p:cNvGrpSpPr>
            <a:grpSpLocks/>
          </p:cNvGrpSpPr>
          <p:nvPr/>
        </p:nvGrpSpPr>
        <p:grpSpPr bwMode="auto">
          <a:xfrm flipH="1">
            <a:off x="7996238" y="-6350"/>
            <a:ext cx="4203700" cy="728663"/>
            <a:chOff x="0" y="0"/>
            <a:chExt cx="11523664" cy="1997050"/>
          </a:xfrm>
          <a:solidFill>
            <a:schemeClr val="accent1"/>
          </a:solidFill>
        </p:grpSpPr>
        <p:sp>
          <p:nvSpPr>
            <p:cNvPr id="6" name="Shape">
              <a:extLst>
                <a:ext uri="{FF2B5EF4-FFF2-40B4-BE49-F238E27FC236}">
                  <a16:creationId xmlns:a16="http://schemas.microsoft.com/office/drawing/2014/main" id="{DEEF7F6A-5909-4932-8DD6-052BA6EDD52A}"/>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 name="Shape">
              <a:extLst>
                <a:ext uri="{FF2B5EF4-FFF2-40B4-BE49-F238E27FC236}">
                  <a16:creationId xmlns:a16="http://schemas.microsoft.com/office/drawing/2014/main" id="{E247D55A-0888-4D3A-A59B-1FBBA24B4F0B}"/>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8" name="Shape">
              <a:extLst>
                <a:ext uri="{FF2B5EF4-FFF2-40B4-BE49-F238E27FC236}">
                  <a16:creationId xmlns:a16="http://schemas.microsoft.com/office/drawing/2014/main" id="{8E6F5085-BC9D-4113-B26D-F0242ABA900F}"/>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9" name="Shape">
              <a:extLst>
                <a:ext uri="{FF2B5EF4-FFF2-40B4-BE49-F238E27FC236}">
                  <a16:creationId xmlns:a16="http://schemas.microsoft.com/office/drawing/2014/main" id="{91CCF3A2-9407-4CCE-9189-8749CFB9DD2D}"/>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sp>
        <p:nvSpPr>
          <p:cNvPr id="15" name="Text Box 10">
            <a:extLst>
              <a:ext uri="{FF2B5EF4-FFF2-40B4-BE49-F238E27FC236}">
                <a16:creationId xmlns:a16="http://schemas.microsoft.com/office/drawing/2014/main" id="{B4D5F67B-CFBA-41E0-B1A3-2308B9DED30B}"/>
              </a:ext>
            </a:extLst>
          </p:cNvPr>
          <p:cNvSpPr txBox="1">
            <a:spLocks noChangeArrowheads="1"/>
          </p:cNvSpPr>
          <p:nvPr/>
        </p:nvSpPr>
        <p:spPr bwMode="gray">
          <a:xfrm>
            <a:off x="2344906" y="294794"/>
            <a:ext cx="6013698" cy="492443"/>
          </a:xfrm>
          <a:prstGeom prst="rect">
            <a:avLst/>
          </a:prstGeom>
          <a:solidFill>
            <a:schemeClr val="accent1"/>
          </a:solidFill>
          <a:ln>
            <a:noFill/>
          </a:ln>
          <a:effec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a:lnSpc>
                <a:spcPct val="100000"/>
              </a:lnSpc>
              <a:spcBef>
                <a:spcPct val="0"/>
              </a:spcBef>
              <a:buFontTx/>
              <a:buNone/>
            </a:pPr>
            <a:r>
              <a:rPr lang="ru-RU" sz="2600" dirty="0">
                <a:latin typeface="Cambria" panose="02040503050406030204" pitchFamily="18" charset="0"/>
              </a:rPr>
              <a:t>ЦЕЛИ И ЗАДАЧИ ПРОЕКТНОЙ РАБОТЫ</a:t>
            </a:r>
            <a:endParaRPr lang="en-US" altLang="ru-RU" sz="2600" dirty="0">
              <a:latin typeface="Cambria" panose="02040503050406030204" pitchFamily="18" charset="0"/>
              <a:cs typeface="Times New Roman" panose="02020603050405020304" pitchFamily="18" charset="0"/>
            </a:endParaRPr>
          </a:p>
        </p:txBody>
      </p:sp>
      <p:sp>
        <p:nvSpPr>
          <p:cNvPr id="16" name="Прямоугольник 15">
            <a:extLst>
              <a:ext uri="{FF2B5EF4-FFF2-40B4-BE49-F238E27FC236}">
                <a16:creationId xmlns:a16="http://schemas.microsoft.com/office/drawing/2014/main" id="{7E13D305-5DD0-4AC9-BF0F-A2BBCF0F741C}"/>
              </a:ext>
            </a:extLst>
          </p:cNvPr>
          <p:cNvSpPr/>
          <p:nvPr/>
        </p:nvSpPr>
        <p:spPr>
          <a:xfrm>
            <a:off x="465306" y="1027594"/>
            <a:ext cx="11489627" cy="4457567"/>
          </a:xfrm>
          <a:prstGeom prst="rect">
            <a:avLst/>
          </a:prstGeom>
        </p:spPr>
        <p:txBody>
          <a:bodyPr wrap="square">
            <a:spAutoFit/>
          </a:bodyPr>
          <a:lstStyle/>
          <a:p>
            <a:pPr algn="just">
              <a:lnSpc>
                <a:spcPct val="150000"/>
              </a:lnSpc>
            </a:pPr>
            <a:r>
              <a:rPr lang="ru-RU" sz="2400" dirty="0">
                <a:solidFill>
                  <a:srgbClr val="000000"/>
                </a:solidFill>
                <a:latin typeface="Times New Roman" panose="02020603050405020304" pitchFamily="18" charset="0"/>
              </a:rPr>
              <a:t>Цель проектной работы: - укрепление знаний учащихся по данному предмету и смежным дисциплинам, расширение диапазона теоретических и практических </a:t>
            </a:r>
            <a:r>
              <a:rPr lang="ru-RU" sz="2400" dirty="0" err="1">
                <a:solidFill>
                  <a:srgbClr val="000000"/>
                </a:solidFill>
                <a:latin typeface="Times New Roman" panose="02020603050405020304" pitchFamily="18" charset="0"/>
              </a:rPr>
              <a:t>знаний;обучение</a:t>
            </a:r>
            <a:r>
              <a:rPr lang="ru-RU" sz="2400" dirty="0">
                <a:solidFill>
                  <a:srgbClr val="000000"/>
                </a:solidFill>
                <a:latin typeface="Times New Roman" panose="02020603050405020304" pitchFamily="18" charset="0"/>
              </a:rPr>
              <a:t> студентов в современный период научно-технического развития к самостоятельному более глубокому изучению инженерно-исследовательских вопросов, решению их в совершенстве во всех аспектах;- обучение к формированию навыков выполнения расчетно-чертежных работ с использованием научно-технической литературы, готовых программ, вычислительных технических средств, средств автоматизации.</a:t>
            </a:r>
            <a:r>
              <a:rPr lang="en-US" sz="2400" dirty="0">
                <a:solidFill>
                  <a:srgbClr val="000000"/>
                </a:solidFill>
                <a:latin typeface="Times New Roman" panose="02020603050405020304" pitchFamily="18" charset="0"/>
              </a:rPr>
              <a:t>	</a:t>
            </a:r>
            <a:endParaRPr lang="ru-RU" sz="2400" dirty="0"/>
          </a:p>
        </p:txBody>
      </p:sp>
    </p:spTree>
    <p:extLst>
      <p:ext uri="{BB962C8B-B14F-4D97-AF65-F5344CB8AC3E}">
        <p14:creationId xmlns:p14="http://schemas.microsoft.com/office/powerpoint/2010/main" val="148549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a:extLst>
              <a:ext uri="{FF2B5EF4-FFF2-40B4-BE49-F238E27FC236}">
                <a16:creationId xmlns:a16="http://schemas.microsoft.com/office/drawing/2014/main" id="{79B20392-98C5-4835-B1FA-327FB7697B9A}"/>
              </a:ext>
            </a:extLst>
          </p:cNvPr>
          <p:cNvGrpSpPr>
            <a:grpSpLocks/>
          </p:cNvGrpSpPr>
          <p:nvPr/>
        </p:nvGrpSpPr>
        <p:grpSpPr bwMode="auto">
          <a:xfrm flipH="1">
            <a:off x="7996238" y="-6350"/>
            <a:ext cx="4203700" cy="728663"/>
            <a:chOff x="0" y="0"/>
            <a:chExt cx="11523664" cy="1997050"/>
          </a:xfrm>
          <a:solidFill>
            <a:schemeClr val="accent1"/>
          </a:solidFill>
        </p:grpSpPr>
        <p:sp>
          <p:nvSpPr>
            <p:cNvPr id="4" name="Shape">
              <a:extLst>
                <a:ext uri="{FF2B5EF4-FFF2-40B4-BE49-F238E27FC236}">
                  <a16:creationId xmlns:a16="http://schemas.microsoft.com/office/drawing/2014/main" id="{27053F15-0B1F-411C-A538-65865C63421E}"/>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 name="Shape">
              <a:extLst>
                <a:ext uri="{FF2B5EF4-FFF2-40B4-BE49-F238E27FC236}">
                  <a16:creationId xmlns:a16="http://schemas.microsoft.com/office/drawing/2014/main" id="{EF185552-8BDC-453F-B29A-4B3E098E867F}"/>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6" name="Shape">
              <a:extLst>
                <a:ext uri="{FF2B5EF4-FFF2-40B4-BE49-F238E27FC236}">
                  <a16:creationId xmlns:a16="http://schemas.microsoft.com/office/drawing/2014/main" id="{336A5032-AF14-4194-983E-FB0F8EAFC284}"/>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 name="Shape">
              <a:extLst>
                <a:ext uri="{FF2B5EF4-FFF2-40B4-BE49-F238E27FC236}">
                  <a16:creationId xmlns:a16="http://schemas.microsoft.com/office/drawing/2014/main" id="{07851EB7-4D83-431D-9E93-F140E813DA81}"/>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sp>
        <p:nvSpPr>
          <p:cNvPr id="8" name="Text Box 10">
            <a:extLst>
              <a:ext uri="{FF2B5EF4-FFF2-40B4-BE49-F238E27FC236}">
                <a16:creationId xmlns:a16="http://schemas.microsoft.com/office/drawing/2014/main" id="{A2A700E9-752E-431F-83C4-ED7405EADE95}"/>
              </a:ext>
            </a:extLst>
          </p:cNvPr>
          <p:cNvSpPr txBox="1">
            <a:spLocks noChangeArrowheads="1"/>
          </p:cNvSpPr>
          <p:nvPr/>
        </p:nvSpPr>
        <p:spPr bwMode="gray">
          <a:xfrm>
            <a:off x="600773" y="311728"/>
            <a:ext cx="7861447" cy="492443"/>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ТРЕБОВАНИЯ К ИНДИВИДУАЛЬНОМУ ПРОЕКТУ</a:t>
            </a:r>
            <a:endParaRPr lang="en-US" altLang="ru-RU" b="1" dirty="0"/>
          </a:p>
        </p:txBody>
      </p:sp>
      <p:sp>
        <p:nvSpPr>
          <p:cNvPr id="9" name="Прямоугольник 8">
            <a:extLst>
              <a:ext uri="{FF2B5EF4-FFF2-40B4-BE49-F238E27FC236}">
                <a16:creationId xmlns:a16="http://schemas.microsoft.com/office/drawing/2014/main" id="{6066EE53-793F-4599-9673-F3D28F3CB310}"/>
              </a:ext>
            </a:extLst>
          </p:cNvPr>
          <p:cNvSpPr/>
          <p:nvPr/>
        </p:nvSpPr>
        <p:spPr>
          <a:xfrm>
            <a:off x="465306" y="1040391"/>
            <a:ext cx="11117094" cy="4524315"/>
          </a:xfrm>
          <a:prstGeom prst="rect">
            <a:avLst/>
          </a:prstGeom>
        </p:spPr>
        <p:txBody>
          <a:bodyPr wrap="square">
            <a:spAutoFit/>
          </a:bodyPr>
          <a:lstStyle/>
          <a:p>
            <a:r>
              <a:rPr lang="ru-RU" sz="2400" dirty="0">
                <a:solidFill>
                  <a:srgbClr val="000000"/>
                </a:solidFill>
                <a:latin typeface="Times New Roman" panose="02020603050405020304" pitchFamily="18" charset="0"/>
              </a:rPr>
              <a:t>При оформлении индивидуального проекта необходимо соблюдать следующее:</a:t>
            </a:r>
          </a:p>
          <a:p>
            <a:r>
              <a:rPr lang="ru-RU" sz="2400" dirty="0">
                <a:solidFill>
                  <a:srgbClr val="000000"/>
                </a:solidFill>
                <a:latin typeface="Times New Roman" panose="02020603050405020304" pitchFamily="18" charset="0"/>
              </a:rPr>
              <a:t> </a:t>
            </a:r>
          </a:p>
          <a:p>
            <a:pPr algn="just"/>
            <a:r>
              <a:rPr lang="ru-RU" sz="2400" dirty="0">
                <a:solidFill>
                  <a:srgbClr val="000000"/>
                </a:solidFill>
                <a:latin typeface="Times New Roman" panose="02020603050405020304" pitchFamily="18" charset="0"/>
              </a:rPr>
              <a:t>• индивидуальный проект оформляется на компьютере с использованием текстового редактора; </a:t>
            </a:r>
          </a:p>
          <a:p>
            <a:pPr algn="just"/>
            <a:r>
              <a:rPr lang="ru-RU" sz="2400" dirty="0">
                <a:solidFill>
                  <a:srgbClr val="000000"/>
                </a:solidFill>
                <a:latin typeface="Times New Roman" panose="02020603050405020304" pitchFamily="18" charset="0"/>
              </a:rPr>
              <a:t>• машинописный текст индивидуального проекта в формате А4 должен быть не менее 30 страниц и не более 40 страниц (шрифт – Times New </a:t>
            </a:r>
            <a:r>
              <a:rPr lang="ru-RU" sz="2400" dirty="0" err="1">
                <a:solidFill>
                  <a:srgbClr val="000000"/>
                </a:solidFill>
                <a:latin typeface="Times New Roman" panose="02020603050405020304" pitchFamily="18" charset="0"/>
              </a:rPr>
              <a:t>Roman</a:t>
            </a:r>
            <a:r>
              <a:rPr lang="ru-RU" sz="2400" dirty="0">
                <a:solidFill>
                  <a:srgbClr val="000000"/>
                </a:solidFill>
                <a:latin typeface="Times New Roman" panose="02020603050405020304" pitchFamily="18" charset="0"/>
              </a:rPr>
              <a:t>, размер шрифта – 14, междустрочный интервал – полтора интервала); </a:t>
            </a:r>
          </a:p>
          <a:p>
            <a:pPr algn="just"/>
            <a:r>
              <a:rPr lang="ru-RU" sz="2400" dirty="0">
                <a:solidFill>
                  <a:srgbClr val="000000"/>
                </a:solidFill>
                <a:latin typeface="Times New Roman" panose="02020603050405020304" pitchFamily="18" charset="0"/>
              </a:rPr>
              <a:t>• выравнивание по ширине (по ширине) при форматировании текста; </a:t>
            </a:r>
          </a:p>
          <a:p>
            <a:pPr algn="just"/>
            <a:r>
              <a:rPr lang="ru-RU" sz="2400" dirty="0">
                <a:solidFill>
                  <a:srgbClr val="000000"/>
                </a:solidFill>
                <a:latin typeface="Times New Roman" panose="02020603050405020304" pitchFamily="18" charset="0"/>
              </a:rPr>
              <a:t>• теоретическая и практическая части должны быть объемом не менее 11-14 страниц; </a:t>
            </a:r>
          </a:p>
          <a:p>
            <a:pPr algn="just"/>
            <a:r>
              <a:rPr lang="ru-RU" sz="2400" dirty="0">
                <a:solidFill>
                  <a:srgbClr val="000000"/>
                </a:solidFill>
                <a:latin typeface="Times New Roman" panose="02020603050405020304" pitchFamily="18" charset="0"/>
              </a:rPr>
              <a:t>• отдельные страницы проекта должны быть пронумерованы и располагаться на расстоянии 20 мм справа, 30 мм слева, 25 мм сверху и снизу;</a:t>
            </a:r>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951490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E0A40AF2-5973-4AC7-87A1-C5C316DB65C4}"/>
              </a:ext>
            </a:extLst>
          </p:cNvPr>
          <p:cNvGrpSpPr>
            <a:grpSpLocks/>
          </p:cNvGrpSpPr>
          <p:nvPr/>
        </p:nvGrpSpPr>
        <p:grpSpPr bwMode="auto">
          <a:xfrm flipH="1">
            <a:off x="7996238" y="-6350"/>
            <a:ext cx="4203700" cy="728663"/>
            <a:chOff x="0" y="0"/>
            <a:chExt cx="11523664" cy="1997050"/>
          </a:xfrm>
          <a:solidFill>
            <a:schemeClr val="accent1"/>
          </a:solidFill>
        </p:grpSpPr>
        <p:sp>
          <p:nvSpPr>
            <p:cNvPr id="3" name="Shape">
              <a:extLst>
                <a:ext uri="{FF2B5EF4-FFF2-40B4-BE49-F238E27FC236}">
                  <a16:creationId xmlns:a16="http://schemas.microsoft.com/office/drawing/2014/main" id="{41958520-C653-4AF0-A35E-E33A4DE02285}"/>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4" name="Shape">
              <a:extLst>
                <a:ext uri="{FF2B5EF4-FFF2-40B4-BE49-F238E27FC236}">
                  <a16:creationId xmlns:a16="http://schemas.microsoft.com/office/drawing/2014/main" id="{2CEC9BDC-4837-4604-85E9-587C43368239}"/>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 name="Shape">
              <a:extLst>
                <a:ext uri="{FF2B5EF4-FFF2-40B4-BE49-F238E27FC236}">
                  <a16:creationId xmlns:a16="http://schemas.microsoft.com/office/drawing/2014/main" id="{E76E1763-277B-477B-A68D-C5392C2C396A}"/>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6" name="Shape">
              <a:extLst>
                <a:ext uri="{FF2B5EF4-FFF2-40B4-BE49-F238E27FC236}">
                  <a16:creationId xmlns:a16="http://schemas.microsoft.com/office/drawing/2014/main" id="{31782CC3-2732-4834-988D-19C31069DD10}"/>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sp>
        <p:nvSpPr>
          <p:cNvPr id="7" name="Прямоугольник 6">
            <a:extLst>
              <a:ext uri="{FF2B5EF4-FFF2-40B4-BE49-F238E27FC236}">
                <a16:creationId xmlns:a16="http://schemas.microsoft.com/office/drawing/2014/main" id="{EA9D26E1-B4B0-4242-956D-4FF0EE39DA40}"/>
              </a:ext>
            </a:extLst>
          </p:cNvPr>
          <p:cNvSpPr/>
          <p:nvPr/>
        </p:nvSpPr>
        <p:spPr>
          <a:xfrm>
            <a:off x="287867" y="762216"/>
            <a:ext cx="11802533" cy="6119560"/>
          </a:xfrm>
          <a:prstGeom prst="rect">
            <a:avLst/>
          </a:prstGeom>
        </p:spPr>
        <p:txBody>
          <a:bodyPr wrap="square">
            <a:spAutoFit/>
          </a:bodyPr>
          <a:lstStyle/>
          <a:p>
            <a:pPr algn="just">
              <a:lnSpc>
                <a:spcPct val="150000"/>
              </a:lnSpc>
            </a:pPr>
            <a:r>
              <a:rPr lang="ru-RU" sz="2400" dirty="0">
                <a:solidFill>
                  <a:srgbClr val="000000"/>
                </a:solidFill>
                <a:latin typeface="Times New Roman" panose="02020603050405020304" pitchFamily="18" charset="0"/>
              </a:rPr>
              <a:t>	Каждая глава отдельного проекта должна начинаться с новой страницы, а тема каждого раздела должна быть выделена жирным шрифтом и заглавными буквами, а точка в конце не должна ставиться; </a:t>
            </a:r>
          </a:p>
          <a:p>
            <a:pPr algn="just">
              <a:lnSpc>
                <a:spcPct val="150000"/>
              </a:lnSpc>
            </a:pPr>
            <a:r>
              <a:rPr lang="ru-RU" sz="2400" dirty="0">
                <a:solidFill>
                  <a:srgbClr val="000000"/>
                </a:solidFill>
                <a:latin typeface="Times New Roman" panose="02020603050405020304" pitchFamily="18" charset="0"/>
              </a:rPr>
              <a:t>• для описания данных таблицы в правой верхней части таблицы следует указать номер таблицы, а посередине — имя таблицы; </a:t>
            </a:r>
          </a:p>
          <a:p>
            <a:pPr algn="just">
              <a:lnSpc>
                <a:spcPct val="150000"/>
              </a:lnSpc>
            </a:pPr>
            <a:r>
              <a:rPr lang="ru-RU" sz="2400" dirty="0">
                <a:solidFill>
                  <a:srgbClr val="000000"/>
                </a:solidFill>
                <a:latin typeface="Times New Roman" panose="02020603050405020304" pitchFamily="18" charset="0"/>
              </a:rPr>
              <a:t>• в индивидуальном проекте представление изображений (схема, график, диаграмма, технические чертежи, фотографии) должно быть четко выполнено, иметь название и нумерацию, например, рис. 1. Главное окно программы. </a:t>
            </a:r>
          </a:p>
          <a:p>
            <a:pPr algn="just">
              <a:lnSpc>
                <a:spcPct val="150000"/>
              </a:lnSpc>
            </a:pPr>
            <a:r>
              <a:rPr lang="ru-RU" sz="2400" dirty="0">
                <a:solidFill>
                  <a:srgbClr val="000000"/>
                </a:solidFill>
                <a:latin typeface="Times New Roman" panose="02020603050405020304" pitchFamily="18" charset="0"/>
              </a:rPr>
              <a:t>	Для выполнения индивидуального проекта студенты должны обладать всеми понятиями и навыками в области основ программирования, веб-программирования, Базы данных и других фундаментальных предметов.</a:t>
            </a:r>
            <a:endParaRPr lang="ru-RU" sz="2400" dirty="0"/>
          </a:p>
        </p:txBody>
      </p:sp>
      <p:sp>
        <p:nvSpPr>
          <p:cNvPr id="8" name="Text Box 10">
            <a:extLst>
              <a:ext uri="{FF2B5EF4-FFF2-40B4-BE49-F238E27FC236}">
                <a16:creationId xmlns:a16="http://schemas.microsoft.com/office/drawing/2014/main" id="{CDF0F95A-2FFA-42E9-AE22-DDADF617135A}"/>
              </a:ext>
            </a:extLst>
          </p:cNvPr>
          <p:cNvSpPr txBox="1">
            <a:spLocks noChangeArrowheads="1"/>
          </p:cNvSpPr>
          <p:nvPr/>
        </p:nvSpPr>
        <p:spPr bwMode="gray">
          <a:xfrm>
            <a:off x="265039" y="241776"/>
            <a:ext cx="7861447" cy="492443"/>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ТРЕБОВАНИЯ К ИНДИВИДУАЛЬНОМУ ПРОЕКТУ</a:t>
            </a:r>
            <a:endParaRPr lang="en-US" altLang="ru-RU" b="1" dirty="0"/>
          </a:p>
        </p:txBody>
      </p:sp>
    </p:spTree>
    <p:extLst>
      <p:ext uri="{BB962C8B-B14F-4D97-AF65-F5344CB8AC3E}">
        <p14:creationId xmlns:p14="http://schemas.microsoft.com/office/powerpoint/2010/main" val="151986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a:extLst>
              <a:ext uri="{FF2B5EF4-FFF2-40B4-BE49-F238E27FC236}">
                <a16:creationId xmlns:a16="http://schemas.microsoft.com/office/drawing/2014/main" id="{B0E6B54B-54FC-4184-AA0C-9E45ACDE4204}"/>
              </a:ext>
            </a:extLst>
          </p:cNvPr>
          <p:cNvGrpSpPr>
            <a:grpSpLocks/>
          </p:cNvGrpSpPr>
          <p:nvPr/>
        </p:nvGrpSpPr>
        <p:grpSpPr bwMode="auto">
          <a:xfrm flipH="1">
            <a:off x="7996238" y="-6350"/>
            <a:ext cx="4203700" cy="728663"/>
            <a:chOff x="0" y="0"/>
            <a:chExt cx="11523664" cy="1997050"/>
          </a:xfrm>
          <a:solidFill>
            <a:schemeClr val="accent1"/>
          </a:solidFill>
        </p:grpSpPr>
        <p:sp>
          <p:nvSpPr>
            <p:cNvPr id="4" name="Shape">
              <a:extLst>
                <a:ext uri="{FF2B5EF4-FFF2-40B4-BE49-F238E27FC236}">
                  <a16:creationId xmlns:a16="http://schemas.microsoft.com/office/drawing/2014/main" id="{AF9692DB-5BF1-4C9B-BF79-0C48E190B8AF}"/>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 name="Shape">
              <a:extLst>
                <a:ext uri="{FF2B5EF4-FFF2-40B4-BE49-F238E27FC236}">
                  <a16:creationId xmlns:a16="http://schemas.microsoft.com/office/drawing/2014/main" id="{8F75F4B0-F520-493A-8287-D995AFF0E544}"/>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6" name="Shape">
              <a:extLst>
                <a:ext uri="{FF2B5EF4-FFF2-40B4-BE49-F238E27FC236}">
                  <a16:creationId xmlns:a16="http://schemas.microsoft.com/office/drawing/2014/main" id="{3C034E6C-F7A6-432B-B015-76B05AE639D7}"/>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 name="Shape">
              <a:extLst>
                <a:ext uri="{FF2B5EF4-FFF2-40B4-BE49-F238E27FC236}">
                  <a16:creationId xmlns:a16="http://schemas.microsoft.com/office/drawing/2014/main" id="{32E48191-7053-4869-8609-F69BCFF661B9}"/>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sp>
        <p:nvSpPr>
          <p:cNvPr id="8" name="Text Box 10">
            <a:extLst>
              <a:ext uri="{FF2B5EF4-FFF2-40B4-BE49-F238E27FC236}">
                <a16:creationId xmlns:a16="http://schemas.microsoft.com/office/drawing/2014/main" id="{84C2D531-0B70-4807-A5FE-774190375F2E}"/>
              </a:ext>
            </a:extLst>
          </p:cNvPr>
          <p:cNvSpPr txBox="1">
            <a:spLocks noChangeArrowheads="1"/>
          </p:cNvSpPr>
          <p:nvPr/>
        </p:nvSpPr>
        <p:spPr bwMode="gray">
          <a:xfrm>
            <a:off x="265039" y="241776"/>
            <a:ext cx="8319265" cy="492443"/>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ОБЩАЯ СТРУКТУРА ИНДИВИДУАЛЬНОГО ПРОЕКТА</a:t>
            </a:r>
            <a:endParaRPr lang="en-US" altLang="ru-RU" b="1" dirty="0"/>
          </a:p>
        </p:txBody>
      </p:sp>
      <p:sp>
        <p:nvSpPr>
          <p:cNvPr id="9" name="Прямоугольник 8">
            <a:extLst>
              <a:ext uri="{FF2B5EF4-FFF2-40B4-BE49-F238E27FC236}">
                <a16:creationId xmlns:a16="http://schemas.microsoft.com/office/drawing/2014/main" id="{620359A8-BE6A-46AE-8C80-B35F27B5B829}"/>
              </a:ext>
            </a:extLst>
          </p:cNvPr>
          <p:cNvSpPr/>
          <p:nvPr/>
        </p:nvSpPr>
        <p:spPr>
          <a:xfrm>
            <a:off x="406402" y="840038"/>
            <a:ext cx="8466666" cy="5565563"/>
          </a:xfrm>
          <a:prstGeom prst="rect">
            <a:avLst/>
          </a:prstGeom>
        </p:spPr>
        <p:txBody>
          <a:bodyPr wrap="square">
            <a:spAutoFit/>
          </a:bodyPr>
          <a:lstStyle/>
          <a:p>
            <a:pPr>
              <a:lnSpc>
                <a:spcPct val="150000"/>
              </a:lnSpc>
            </a:pPr>
            <a:r>
              <a:rPr lang="ru-RU" sz="2400" dirty="0">
                <a:solidFill>
                  <a:srgbClr val="000000"/>
                </a:solidFill>
                <a:latin typeface="Times New Roman" panose="02020603050405020304" pitchFamily="18" charset="0"/>
              </a:rPr>
              <a:t>Индивидуальный проект должен иметь следующую структуру: </a:t>
            </a:r>
          </a:p>
          <a:p>
            <a:pPr>
              <a:lnSpc>
                <a:spcPct val="150000"/>
              </a:lnSpc>
            </a:pPr>
            <a:r>
              <a:rPr lang="ru-RU" sz="2400" dirty="0">
                <a:solidFill>
                  <a:srgbClr val="000000"/>
                </a:solidFill>
                <a:latin typeface="Times New Roman" panose="02020603050405020304" pitchFamily="18" charset="0"/>
              </a:rPr>
              <a:t>• титульный лист; </a:t>
            </a:r>
          </a:p>
          <a:p>
            <a:pPr>
              <a:lnSpc>
                <a:spcPct val="150000"/>
              </a:lnSpc>
            </a:pPr>
            <a:r>
              <a:rPr lang="ru-RU" sz="2400" dirty="0">
                <a:solidFill>
                  <a:srgbClr val="000000"/>
                </a:solidFill>
                <a:latin typeface="Times New Roman" panose="02020603050405020304" pitchFamily="18" charset="0"/>
              </a:rPr>
              <a:t>• лист заданий; </a:t>
            </a:r>
          </a:p>
          <a:p>
            <a:pPr>
              <a:lnSpc>
                <a:spcPct val="150000"/>
              </a:lnSpc>
            </a:pPr>
            <a:r>
              <a:rPr lang="ru-RU" sz="2400" dirty="0">
                <a:solidFill>
                  <a:srgbClr val="000000"/>
                </a:solidFill>
                <a:latin typeface="Times New Roman" panose="02020603050405020304" pitchFamily="18" charset="0"/>
              </a:rPr>
              <a:t>• содержание; </a:t>
            </a:r>
          </a:p>
          <a:p>
            <a:pPr>
              <a:lnSpc>
                <a:spcPct val="150000"/>
              </a:lnSpc>
            </a:pPr>
            <a:r>
              <a:rPr lang="ru-RU" sz="2400" dirty="0">
                <a:solidFill>
                  <a:srgbClr val="000000"/>
                </a:solidFill>
                <a:latin typeface="Times New Roman" panose="02020603050405020304" pitchFamily="18" charset="0"/>
              </a:rPr>
              <a:t>• вводная часть; </a:t>
            </a:r>
          </a:p>
          <a:p>
            <a:pPr>
              <a:lnSpc>
                <a:spcPct val="150000"/>
              </a:lnSpc>
            </a:pPr>
            <a:r>
              <a:rPr lang="ru-RU" sz="2400" dirty="0">
                <a:solidFill>
                  <a:srgbClr val="000000"/>
                </a:solidFill>
                <a:latin typeface="Times New Roman" panose="02020603050405020304" pitchFamily="18" charset="0"/>
              </a:rPr>
              <a:t>• теоретическая часть; </a:t>
            </a:r>
          </a:p>
          <a:p>
            <a:pPr>
              <a:lnSpc>
                <a:spcPct val="150000"/>
              </a:lnSpc>
            </a:pPr>
            <a:r>
              <a:rPr lang="ru-RU" sz="2400" dirty="0">
                <a:solidFill>
                  <a:srgbClr val="000000"/>
                </a:solidFill>
                <a:latin typeface="Times New Roman" panose="02020603050405020304" pitchFamily="18" charset="0"/>
              </a:rPr>
              <a:t>• практическая часть; </a:t>
            </a:r>
          </a:p>
          <a:p>
            <a:pPr>
              <a:lnSpc>
                <a:spcPct val="150000"/>
              </a:lnSpc>
            </a:pPr>
            <a:r>
              <a:rPr lang="ru-RU" sz="2400" dirty="0">
                <a:solidFill>
                  <a:srgbClr val="000000"/>
                </a:solidFill>
                <a:latin typeface="Times New Roman" panose="02020603050405020304" pitchFamily="18" charset="0"/>
              </a:rPr>
              <a:t>• заключение; </a:t>
            </a:r>
          </a:p>
          <a:p>
            <a:pPr>
              <a:lnSpc>
                <a:spcPct val="150000"/>
              </a:lnSpc>
            </a:pPr>
            <a:r>
              <a:rPr lang="ru-RU" sz="2400" dirty="0">
                <a:solidFill>
                  <a:srgbClr val="000000"/>
                </a:solidFill>
                <a:latin typeface="Times New Roman" panose="02020603050405020304" pitchFamily="18" charset="0"/>
              </a:rPr>
              <a:t>• использованная литература и ссылки в Интернете; </a:t>
            </a:r>
          </a:p>
          <a:p>
            <a:pPr marL="342900" indent="-342900">
              <a:lnSpc>
                <a:spcPct val="150000"/>
              </a:lnSpc>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приложения</a:t>
            </a:r>
          </a:p>
        </p:txBody>
      </p:sp>
      <p:pic>
        <p:nvPicPr>
          <p:cNvPr id="2" name="Рисунок 1"/>
          <p:cNvPicPr>
            <a:picLocks noChangeAspect="1"/>
          </p:cNvPicPr>
          <p:nvPr/>
        </p:nvPicPr>
        <p:blipFill>
          <a:blip r:embed="rId2"/>
          <a:stretch>
            <a:fillRect/>
          </a:stretch>
        </p:blipFill>
        <p:spPr>
          <a:xfrm>
            <a:off x="7305964" y="1717064"/>
            <a:ext cx="4385574" cy="4063249"/>
          </a:xfrm>
          <a:prstGeom prst="rect">
            <a:avLst/>
          </a:prstGeom>
        </p:spPr>
      </p:pic>
    </p:spTree>
    <p:extLst>
      <p:ext uri="{BB962C8B-B14F-4D97-AF65-F5344CB8AC3E}">
        <p14:creationId xmlns:p14="http://schemas.microsoft.com/office/powerpoint/2010/main" val="1375770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Прямоугольник 15">
            <a:extLst>
              <a:ext uri="{FF2B5EF4-FFF2-40B4-BE49-F238E27FC236}">
                <a16:creationId xmlns:a16="http://schemas.microsoft.com/office/drawing/2014/main" id="{2F4F000D-70A8-4C60-80CE-F9DEFFFA0366}"/>
              </a:ext>
            </a:extLst>
          </p:cNvPr>
          <p:cNvSpPr/>
          <p:nvPr/>
        </p:nvSpPr>
        <p:spPr>
          <a:xfrm>
            <a:off x="192000" y="4884387"/>
            <a:ext cx="11808000" cy="1728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15" name="Прямоугольник 14">
            <a:extLst>
              <a:ext uri="{FF2B5EF4-FFF2-40B4-BE49-F238E27FC236}">
                <a16:creationId xmlns:a16="http://schemas.microsoft.com/office/drawing/2014/main" id="{EAADFE12-85CA-4606-900B-706FF4E98BC2}"/>
              </a:ext>
            </a:extLst>
          </p:cNvPr>
          <p:cNvSpPr/>
          <p:nvPr/>
        </p:nvSpPr>
        <p:spPr>
          <a:xfrm>
            <a:off x="169333" y="2987660"/>
            <a:ext cx="11808000" cy="1728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73477285-8115-47AC-8442-43CCE3B5A1C3}"/>
              </a:ext>
            </a:extLst>
          </p:cNvPr>
          <p:cNvSpPr/>
          <p:nvPr/>
        </p:nvSpPr>
        <p:spPr>
          <a:xfrm>
            <a:off x="146508" y="1049864"/>
            <a:ext cx="11808000" cy="1728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2" name="Прямоугольник 1">
            <a:extLst>
              <a:ext uri="{FF2B5EF4-FFF2-40B4-BE49-F238E27FC236}">
                <a16:creationId xmlns:a16="http://schemas.microsoft.com/office/drawing/2014/main" id="{044121FB-2267-4528-904D-8D3E9EF03B6C}"/>
              </a:ext>
            </a:extLst>
          </p:cNvPr>
          <p:cNvSpPr/>
          <p:nvPr/>
        </p:nvSpPr>
        <p:spPr>
          <a:xfrm>
            <a:off x="2579413" y="1031395"/>
            <a:ext cx="9815790" cy="1600438"/>
          </a:xfrm>
          <a:prstGeom prst="rect">
            <a:avLst/>
          </a:prstGeom>
        </p:spPr>
        <p:txBody>
          <a:bodyPr wrap="square">
            <a:spAutoFit/>
          </a:bodyPr>
          <a:lstStyle/>
          <a:p>
            <a:pPr marL="102870" marR="460375" indent="310515" algn="just">
              <a:spcBef>
                <a:spcPts val="790"/>
              </a:spcBef>
              <a:spcAft>
                <a:spcPts val="0"/>
              </a:spcAft>
            </a:pPr>
            <a:r>
              <a:rPr lang="ms-MY" sz="2200"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Министерство высшего образования Республики Узбекистан, наименование высшего учебного заведения и кафедры, тема индивидуального проекта, руководитель и должность индивидуального проекта, имя и фамилия студента, выполняющего индивидуальный проект, группы и «Ташкент-2025г». должно быть является первым листом индивидуального проекта, он не нумеруется</a:t>
            </a:r>
            <a:r>
              <a:rPr lang="ru-RU" sz="2200" dirty="0">
                <a:latin typeface="Times New Roman" panose="02020603050405020304" pitchFamily="18" charset="0"/>
                <a:ea typeface="Times New Roman" panose="02020603050405020304" pitchFamily="18" charset="0"/>
              </a:rPr>
              <a:t>.</a:t>
            </a:r>
            <a:endParaRPr lang="ru-RU" sz="2200" dirty="0">
              <a:effectLst/>
              <a:latin typeface="Times New Roman" panose="02020603050405020304" pitchFamily="18" charset="0"/>
              <a:ea typeface="Times New Roman" panose="02020603050405020304" pitchFamily="18" charset="0"/>
            </a:endParaRPr>
          </a:p>
        </p:txBody>
      </p:sp>
      <p:grpSp>
        <p:nvGrpSpPr>
          <p:cNvPr id="3" name="Group 7">
            <a:extLst>
              <a:ext uri="{FF2B5EF4-FFF2-40B4-BE49-F238E27FC236}">
                <a16:creationId xmlns:a16="http://schemas.microsoft.com/office/drawing/2014/main" id="{A9DD7BC3-88E8-400C-A0A9-064068630A8F}"/>
              </a:ext>
            </a:extLst>
          </p:cNvPr>
          <p:cNvGrpSpPr>
            <a:grpSpLocks/>
          </p:cNvGrpSpPr>
          <p:nvPr/>
        </p:nvGrpSpPr>
        <p:grpSpPr bwMode="auto">
          <a:xfrm flipH="1">
            <a:off x="7996238" y="-6350"/>
            <a:ext cx="4203700" cy="728663"/>
            <a:chOff x="0" y="0"/>
            <a:chExt cx="11523664" cy="1997050"/>
          </a:xfrm>
          <a:solidFill>
            <a:schemeClr val="accent1"/>
          </a:solidFill>
        </p:grpSpPr>
        <p:sp>
          <p:nvSpPr>
            <p:cNvPr id="4" name="Shape">
              <a:extLst>
                <a:ext uri="{FF2B5EF4-FFF2-40B4-BE49-F238E27FC236}">
                  <a16:creationId xmlns:a16="http://schemas.microsoft.com/office/drawing/2014/main" id="{90DC79F5-6DEE-4196-AE1D-0B6CAD3ED67E}"/>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 name="Shape">
              <a:extLst>
                <a:ext uri="{FF2B5EF4-FFF2-40B4-BE49-F238E27FC236}">
                  <a16:creationId xmlns:a16="http://schemas.microsoft.com/office/drawing/2014/main" id="{ED8ECE2B-BE2D-49E7-9EB6-89136FB57B4B}"/>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6" name="Shape">
              <a:extLst>
                <a:ext uri="{FF2B5EF4-FFF2-40B4-BE49-F238E27FC236}">
                  <a16:creationId xmlns:a16="http://schemas.microsoft.com/office/drawing/2014/main" id="{39449825-8C46-4BA7-A238-4C8EC5FDEE92}"/>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 name="Shape">
              <a:extLst>
                <a:ext uri="{FF2B5EF4-FFF2-40B4-BE49-F238E27FC236}">
                  <a16:creationId xmlns:a16="http://schemas.microsoft.com/office/drawing/2014/main" id="{5791765B-32C4-4CF8-920B-B03CF7FCA72F}"/>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sp>
        <p:nvSpPr>
          <p:cNvPr id="8" name="Text Box 10">
            <a:extLst>
              <a:ext uri="{FF2B5EF4-FFF2-40B4-BE49-F238E27FC236}">
                <a16:creationId xmlns:a16="http://schemas.microsoft.com/office/drawing/2014/main" id="{BEFB9AE6-8824-4E1F-B16E-C5876D88AECD}"/>
              </a:ext>
            </a:extLst>
          </p:cNvPr>
          <p:cNvSpPr txBox="1">
            <a:spLocks noChangeArrowheads="1"/>
          </p:cNvSpPr>
          <p:nvPr/>
        </p:nvSpPr>
        <p:spPr bwMode="gray">
          <a:xfrm>
            <a:off x="265039" y="241776"/>
            <a:ext cx="8319265" cy="492443"/>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ОБЩАЯ СТРУКТУРА ИНДИВИДУАЛЬНОГО ПРОЕКТА</a:t>
            </a:r>
          </a:p>
        </p:txBody>
      </p:sp>
      <p:sp>
        <p:nvSpPr>
          <p:cNvPr id="9" name="Text Box 10">
            <a:extLst>
              <a:ext uri="{FF2B5EF4-FFF2-40B4-BE49-F238E27FC236}">
                <a16:creationId xmlns:a16="http://schemas.microsoft.com/office/drawing/2014/main" id="{1A3BE657-F4E0-487D-8B5F-CEFA79070F22}"/>
              </a:ext>
            </a:extLst>
          </p:cNvPr>
          <p:cNvSpPr txBox="1">
            <a:spLocks noChangeArrowheads="1"/>
          </p:cNvSpPr>
          <p:nvPr/>
        </p:nvSpPr>
        <p:spPr bwMode="gray">
          <a:xfrm>
            <a:off x="231174" y="1770295"/>
            <a:ext cx="2362030" cy="892552"/>
          </a:xfrm>
          <a:prstGeom prst="rect">
            <a:avLst/>
          </a:prstGeom>
          <a:solidFill>
            <a:schemeClr val="accent1"/>
          </a:solidFill>
          <a:ln>
            <a:noFill/>
          </a:ln>
          <a:effectLst/>
        </p:spPr>
        <p:txBody>
          <a:bodyPr wrap="squar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ТИТЛОВОЙ ЛИСТ</a:t>
            </a:r>
            <a:endParaRPr lang="en-US" altLang="ru-RU" b="1" dirty="0"/>
          </a:p>
        </p:txBody>
      </p:sp>
      <p:sp>
        <p:nvSpPr>
          <p:cNvPr id="10" name="Прямоугольник 9">
            <a:extLst>
              <a:ext uri="{FF2B5EF4-FFF2-40B4-BE49-F238E27FC236}">
                <a16:creationId xmlns:a16="http://schemas.microsoft.com/office/drawing/2014/main" id="{B1C5C0B7-9A22-4C43-9DCC-FEDFCD0A48E7}"/>
              </a:ext>
            </a:extLst>
          </p:cNvPr>
          <p:cNvSpPr/>
          <p:nvPr/>
        </p:nvSpPr>
        <p:spPr>
          <a:xfrm>
            <a:off x="265038" y="2970727"/>
            <a:ext cx="9381417" cy="1661993"/>
          </a:xfrm>
          <a:prstGeom prst="rect">
            <a:avLst/>
          </a:prstGeom>
        </p:spPr>
        <p:txBody>
          <a:bodyPr wrap="square">
            <a:spAutoFit/>
          </a:bodyPr>
          <a:lstStyle/>
          <a:p>
            <a:pPr algn="just"/>
            <a:r>
              <a:rPr lang="ms-MY" sz="22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Части индивидуального проекта: Введение, теоретическую и практическую части следует писать прописными буквами, а входящие в них разделы перечислять строчными буквами. Разделам, которые попадают в части 1 и 2, должен предшествовать номер части, точка, а затем номер раздела, например, 1.1, 1.2. </a:t>
            </a:r>
            <a:r>
              <a:rPr lang="ru-RU" sz="2000">
                <a:latin typeface="Times New Roman" panose="02020603050405020304" pitchFamily="18" charset="0"/>
                <a:ea typeface="Times New Roman" panose="02020603050405020304" pitchFamily="18" charset="0"/>
              </a:rPr>
              <a:t>Номер страницы указан в конце каждой части и раздела.</a:t>
            </a:r>
            <a:endParaRPr lang="ru-RU" sz="2000" dirty="0"/>
          </a:p>
        </p:txBody>
      </p:sp>
      <p:sp>
        <p:nvSpPr>
          <p:cNvPr id="11" name="Text Box 10">
            <a:extLst>
              <a:ext uri="{FF2B5EF4-FFF2-40B4-BE49-F238E27FC236}">
                <a16:creationId xmlns:a16="http://schemas.microsoft.com/office/drawing/2014/main" id="{ABC6A5F3-C96B-4EA8-846A-CC912FD26BD6}"/>
              </a:ext>
            </a:extLst>
          </p:cNvPr>
          <p:cNvSpPr txBox="1">
            <a:spLocks noChangeArrowheads="1"/>
          </p:cNvSpPr>
          <p:nvPr/>
        </p:nvSpPr>
        <p:spPr bwMode="gray">
          <a:xfrm>
            <a:off x="9742160" y="3395393"/>
            <a:ext cx="2330878" cy="492443"/>
          </a:xfrm>
          <a:prstGeom prst="rect">
            <a:avLst/>
          </a:prstGeom>
          <a:solidFill>
            <a:schemeClr val="accent1"/>
          </a:solidFill>
          <a:ln>
            <a:noFill/>
          </a:ln>
          <a:effectLst/>
        </p:spPr>
        <p:txBody>
          <a:bodyPr wrap="squar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ОГЛАВЛЕНИЕ</a:t>
            </a:r>
            <a:endParaRPr lang="en-US" altLang="ru-RU" b="1" dirty="0"/>
          </a:p>
        </p:txBody>
      </p:sp>
      <p:sp>
        <p:nvSpPr>
          <p:cNvPr id="12" name="Прямоугольник 11">
            <a:extLst>
              <a:ext uri="{FF2B5EF4-FFF2-40B4-BE49-F238E27FC236}">
                <a16:creationId xmlns:a16="http://schemas.microsoft.com/office/drawing/2014/main" id="{1D975047-2DB5-4EFB-B461-586BAC457D3A}"/>
              </a:ext>
            </a:extLst>
          </p:cNvPr>
          <p:cNvSpPr/>
          <p:nvPr/>
        </p:nvSpPr>
        <p:spPr>
          <a:xfrm>
            <a:off x="2714877" y="4914173"/>
            <a:ext cx="9663389" cy="1661993"/>
          </a:xfrm>
          <a:prstGeom prst="rect">
            <a:avLst/>
          </a:prstGeom>
        </p:spPr>
        <p:txBody>
          <a:bodyPr wrap="square">
            <a:spAutoFit/>
          </a:bodyPr>
          <a:lstStyle/>
          <a:p>
            <a:pPr marL="102870" marR="460375" indent="310515" algn="just">
              <a:spcAft>
                <a:spcPts val="0"/>
              </a:spcAft>
            </a:pPr>
            <a:r>
              <a:rPr lang="ms-MY" sz="22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Во введении общие сведения по теме, основные понятия предмета, по которому выполнялся индивидуальный проект, решения по области, постановления, новости нормативных документов, область применения индивидуального проекта, цель индивидуального проекта, вопросы, поставленные перед индивидуальным проектом.</a:t>
            </a:r>
            <a:endParaRPr lang="ru-RU" sz="2000" dirty="0">
              <a:effectLst/>
              <a:latin typeface="Times New Roman" panose="02020603050405020304" pitchFamily="18" charset="0"/>
              <a:ea typeface="Times New Roman" panose="02020603050405020304" pitchFamily="18" charset="0"/>
            </a:endParaRPr>
          </a:p>
        </p:txBody>
      </p:sp>
      <p:sp>
        <p:nvSpPr>
          <p:cNvPr id="13" name="Text Box 10">
            <a:extLst>
              <a:ext uri="{FF2B5EF4-FFF2-40B4-BE49-F238E27FC236}">
                <a16:creationId xmlns:a16="http://schemas.microsoft.com/office/drawing/2014/main" id="{650829AD-D69F-4448-971B-B4EDE3998DCB}"/>
              </a:ext>
            </a:extLst>
          </p:cNvPr>
          <p:cNvSpPr txBox="1">
            <a:spLocks noChangeArrowheads="1"/>
          </p:cNvSpPr>
          <p:nvPr/>
        </p:nvSpPr>
        <p:spPr bwMode="gray">
          <a:xfrm>
            <a:off x="226851" y="5391227"/>
            <a:ext cx="1991314" cy="492443"/>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dirty="0"/>
              <a:t>ВВЕДЕНИЕ:</a:t>
            </a:r>
            <a:endParaRPr lang="en-US" altLang="ru-RU" b="1" dirty="0"/>
          </a:p>
        </p:txBody>
      </p:sp>
    </p:spTree>
    <p:extLst>
      <p:ext uri="{BB962C8B-B14F-4D97-AF65-F5344CB8AC3E}">
        <p14:creationId xmlns:p14="http://schemas.microsoft.com/office/powerpoint/2010/main" val="1290110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Прямоугольник 18">
            <a:extLst>
              <a:ext uri="{FF2B5EF4-FFF2-40B4-BE49-F238E27FC236}">
                <a16:creationId xmlns:a16="http://schemas.microsoft.com/office/drawing/2014/main" id="{825BD60E-13E7-4C25-AE95-99D481DA2222}"/>
              </a:ext>
            </a:extLst>
          </p:cNvPr>
          <p:cNvSpPr/>
          <p:nvPr/>
        </p:nvSpPr>
        <p:spPr>
          <a:xfrm>
            <a:off x="146508" y="5324416"/>
            <a:ext cx="11736082" cy="1008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BB1ED051-07DA-447F-B999-4B3D1FBF7E2E}"/>
              </a:ext>
            </a:extLst>
          </p:cNvPr>
          <p:cNvSpPr/>
          <p:nvPr/>
        </p:nvSpPr>
        <p:spPr>
          <a:xfrm>
            <a:off x="146508" y="3904886"/>
            <a:ext cx="11736082" cy="1116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74D8D888-C374-4421-82B3-2CD93F378F8B}"/>
              </a:ext>
            </a:extLst>
          </p:cNvPr>
          <p:cNvSpPr/>
          <p:nvPr/>
        </p:nvSpPr>
        <p:spPr>
          <a:xfrm>
            <a:off x="146508" y="2334628"/>
            <a:ext cx="11556000" cy="1404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17DA2E0A-299C-406B-948E-B4236D39AB63}"/>
              </a:ext>
            </a:extLst>
          </p:cNvPr>
          <p:cNvSpPr/>
          <p:nvPr/>
        </p:nvSpPr>
        <p:spPr>
          <a:xfrm>
            <a:off x="60266" y="1012971"/>
            <a:ext cx="11556000" cy="1044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ru-RU"/>
          </a:p>
        </p:txBody>
      </p:sp>
      <p:sp>
        <p:nvSpPr>
          <p:cNvPr id="2" name="Прямоугольник 1">
            <a:extLst>
              <a:ext uri="{FF2B5EF4-FFF2-40B4-BE49-F238E27FC236}">
                <a16:creationId xmlns:a16="http://schemas.microsoft.com/office/drawing/2014/main" id="{0637A215-FB6B-4D48-8F9C-BD60DAE8E322}"/>
              </a:ext>
            </a:extLst>
          </p:cNvPr>
          <p:cNvSpPr/>
          <p:nvPr/>
        </p:nvSpPr>
        <p:spPr>
          <a:xfrm>
            <a:off x="3031065" y="990483"/>
            <a:ext cx="8585201" cy="1046825"/>
          </a:xfrm>
          <a:prstGeom prst="rect">
            <a:avLst/>
          </a:prstGeom>
        </p:spPr>
        <p:txBody>
          <a:bodyPr wrap="square">
            <a:spAutoFit/>
          </a:bodyPr>
          <a:lstStyle/>
          <a:p>
            <a:pPr>
              <a:lnSpc>
                <a:spcPct val="150000"/>
              </a:lnSpc>
            </a:pPr>
            <a:r>
              <a:rPr lang="ru-RU" sz="2200" dirty="0">
                <a:latin typeface="Times New Roman" panose="02020603050405020304" pitchFamily="18" charset="0"/>
                <a:ea typeface="Times New Roman" panose="02020603050405020304" pitchFamily="18" charset="0"/>
              </a:rPr>
              <a:t>Теоретическая информация об индивидуальном проекте, которая должна состоять как минимум из трех разделов.</a:t>
            </a:r>
            <a:endParaRPr lang="ru-RU" sz="2200" dirty="0"/>
          </a:p>
        </p:txBody>
      </p:sp>
      <p:grpSp>
        <p:nvGrpSpPr>
          <p:cNvPr id="3" name="Group 7">
            <a:extLst>
              <a:ext uri="{FF2B5EF4-FFF2-40B4-BE49-F238E27FC236}">
                <a16:creationId xmlns:a16="http://schemas.microsoft.com/office/drawing/2014/main" id="{81C7C602-092D-4610-AA86-ACFED3E2C6C6}"/>
              </a:ext>
            </a:extLst>
          </p:cNvPr>
          <p:cNvGrpSpPr>
            <a:grpSpLocks/>
          </p:cNvGrpSpPr>
          <p:nvPr/>
        </p:nvGrpSpPr>
        <p:grpSpPr bwMode="auto">
          <a:xfrm flipH="1">
            <a:off x="7996238" y="-6350"/>
            <a:ext cx="4203700" cy="728663"/>
            <a:chOff x="0" y="0"/>
            <a:chExt cx="11523664" cy="1997050"/>
          </a:xfrm>
          <a:solidFill>
            <a:schemeClr val="accent1"/>
          </a:solidFill>
        </p:grpSpPr>
        <p:sp>
          <p:nvSpPr>
            <p:cNvPr id="4" name="Shape">
              <a:extLst>
                <a:ext uri="{FF2B5EF4-FFF2-40B4-BE49-F238E27FC236}">
                  <a16:creationId xmlns:a16="http://schemas.microsoft.com/office/drawing/2014/main" id="{76E32F13-7743-4641-B5B4-4AFD215EDD71}"/>
                </a:ext>
              </a:extLst>
            </p:cNvPr>
            <p:cNvSpPr/>
            <p:nvPr/>
          </p:nvSpPr>
          <p:spPr>
            <a:xfrm>
              <a:off x="0" y="0"/>
              <a:ext cx="5439796" cy="1997050"/>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 name="Shape">
              <a:extLst>
                <a:ext uri="{FF2B5EF4-FFF2-40B4-BE49-F238E27FC236}">
                  <a16:creationId xmlns:a16="http://schemas.microsoft.com/office/drawing/2014/main" id="{D958B312-F007-4BF8-A6C5-B7C0E4B01489}"/>
                </a:ext>
              </a:extLst>
            </p:cNvPr>
            <p:cNvSpPr/>
            <p:nvPr/>
          </p:nvSpPr>
          <p:spPr>
            <a:xfrm>
              <a:off x="0" y="0"/>
              <a:ext cx="5439796" cy="1518454"/>
            </a:xfrm>
            <a:custGeom>
              <a:avLst/>
              <a:gdLst/>
              <a:ahLst/>
              <a:cxnLst>
                <a:cxn ang="0">
                  <a:pos x="wd2" y="hd2"/>
                </a:cxn>
                <a:cxn ang="5400000">
                  <a:pos x="wd2" y="hd2"/>
                </a:cxn>
                <a:cxn ang="10800000">
                  <a:pos x="wd2" y="hd2"/>
                </a:cxn>
                <a:cxn ang="16200000">
                  <a:pos x="wd2" y="hd2"/>
                </a:cxn>
              </a:cxnLst>
              <a:rect l="0" t="0" r="r" b="b"/>
              <a:pathLst>
                <a:path w="21600" h="18650" extrusionOk="0">
                  <a:moveTo>
                    <a:pt x="0" y="12912"/>
                  </a:moveTo>
                  <a:cubicBezTo>
                    <a:pt x="0" y="12912"/>
                    <a:pt x="3444" y="21600"/>
                    <a:pt x="8853" y="17595"/>
                  </a:cubicBezTo>
                  <a:cubicBezTo>
                    <a:pt x="13537" y="14127"/>
                    <a:pt x="16451" y="0"/>
                    <a:pt x="21600" y="0"/>
                  </a:cubicBezTo>
                  <a:lnTo>
                    <a:pt x="0" y="0"/>
                  </a:lnTo>
                  <a:cubicBezTo>
                    <a:pt x="0" y="0"/>
                    <a:pt x="0" y="12912"/>
                    <a:pt x="0" y="12912"/>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6" name="Shape">
              <a:extLst>
                <a:ext uri="{FF2B5EF4-FFF2-40B4-BE49-F238E27FC236}">
                  <a16:creationId xmlns:a16="http://schemas.microsoft.com/office/drawing/2014/main" id="{53734B2A-0EA4-4134-8893-29B3C86D2EFB}"/>
                </a:ext>
              </a:extLst>
            </p:cNvPr>
            <p:cNvSpPr/>
            <p:nvPr/>
          </p:nvSpPr>
          <p:spPr>
            <a:xfrm>
              <a:off x="0" y="0"/>
              <a:ext cx="11523664" cy="1862172"/>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 name="Shape">
              <a:extLst>
                <a:ext uri="{FF2B5EF4-FFF2-40B4-BE49-F238E27FC236}">
                  <a16:creationId xmlns:a16="http://schemas.microsoft.com/office/drawing/2014/main" id="{62E437E6-3E37-4553-A463-F455F92C8C0F}"/>
                </a:ext>
              </a:extLst>
            </p:cNvPr>
            <p:cNvSpPr/>
            <p:nvPr/>
          </p:nvSpPr>
          <p:spPr>
            <a:xfrm>
              <a:off x="0" y="0"/>
              <a:ext cx="11523664" cy="1183436"/>
            </a:xfrm>
            <a:custGeom>
              <a:avLst/>
              <a:gdLst/>
              <a:ahLst/>
              <a:cxnLst>
                <a:cxn ang="0">
                  <a:pos x="wd2" y="hd2"/>
                </a:cxn>
                <a:cxn ang="5400000">
                  <a:pos x="wd2" y="hd2"/>
                </a:cxn>
                <a:cxn ang="10800000">
                  <a:pos x="wd2" y="hd2"/>
                </a:cxn>
                <a:cxn ang="16200000">
                  <a:pos x="wd2" y="hd2"/>
                </a:cxn>
              </a:cxnLst>
              <a:rect l="0" t="0" r="r" b="b"/>
              <a:pathLst>
                <a:path w="21600" h="9412" extrusionOk="0">
                  <a:moveTo>
                    <a:pt x="21600" y="0"/>
                  </a:moveTo>
                  <a:cubicBezTo>
                    <a:pt x="21600" y="0"/>
                    <a:pt x="18015" y="16554"/>
                    <a:pt x="11571" y="5754"/>
                  </a:cubicBezTo>
                  <a:cubicBezTo>
                    <a:pt x="5127" y="-5046"/>
                    <a:pt x="0" y="6618"/>
                    <a:pt x="0" y="6618"/>
                  </a:cubicBezTo>
                  <a:lnTo>
                    <a:pt x="0" y="0"/>
                  </a:lnTo>
                  <a:cubicBezTo>
                    <a:pt x="0" y="0"/>
                    <a:pt x="21600" y="0"/>
                    <a:pt x="21600" y="0"/>
                  </a:cubicBezTo>
                  <a:close/>
                </a:path>
              </a:pathLst>
            </a:custGeom>
            <a:grp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grpSp>
      <p:sp>
        <p:nvSpPr>
          <p:cNvPr id="8" name="Text Box 10">
            <a:extLst>
              <a:ext uri="{FF2B5EF4-FFF2-40B4-BE49-F238E27FC236}">
                <a16:creationId xmlns:a16="http://schemas.microsoft.com/office/drawing/2014/main" id="{319BF4B0-19F3-4246-8E8F-20A52A5B923F}"/>
              </a:ext>
            </a:extLst>
          </p:cNvPr>
          <p:cNvSpPr txBox="1">
            <a:spLocks noChangeArrowheads="1"/>
          </p:cNvSpPr>
          <p:nvPr/>
        </p:nvSpPr>
        <p:spPr bwMode="gray">
          <a:xfrm>
            <a:off x="265039" y="241776"/>
            <a:ext cx="8319265" cy="492443"/>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b="1"/>
              <a:t>ОБЩАЯ СТРУКТУРА ИНДИВИДУАЛЬНОГО ПРОЕКТА</a:t>
            </a:r>
            <a:endParaRPr lang="ru-RU" b="1" dirty="0"/>
          </a:p>
        </p:txBody>
      </p:sp>
      <p:sp>
        <p:nvSpPr>
          <p:cNvPr id="9" name="Text Box 10">
            <a:extLst>
              <a:ext uri="{FF2B5EF4-FFF2-40B4-BE49-F238E27FC236}">
                <a16:creationId xmlns:a16="http://schemas.microsoft.com/office/drawing/2014/main" id="{6DF09E75-C817-40E4-8954-8BB8BBC36D2D}"/>
              </a:ext>
            </a:extLst>
          </p:cNvPr>
          <p:cNvSpPr txBox="1">
            <a:spLocks noChangeArrowheads="1"/>
          </p:cNvSpPr>
          <p:nvPr/>
        </p:nvSpPr>
        <p:spPr bwMode="gray">
          <a:xfrm>
            <a:off x="265040" y="1282756"/>
            <a:ext cx="2766026" cy="707886"/>
          </a:xfrm>
          <a:prstGeom prst="rect">
            <a:avLst/>
          </a:prstGeom>
          <a:solidFill>
            <a:schemeClr val="accent1"/>
          </a:solidFill>
          <a:ln>
            <a:noFill/>
          </a:ln>
          <a:effectLst/>
        </p:spPr>
        <p:txBody>
          <a:bodyPr wrap="squar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sz="2000" b="1" dirty="0">
                <a:latin typeface="Times New Roman" panose="02020603050405020304" pitchFamily="18" charset="0"/>
                <a:cs typeface="Times New Roman" panose="02020603050405020304" pitchFamily="18" charset="0"/>
              </a:rPr>
              <a:t>ТЕОРЕТИЧЕСКАЯ ЧАСТЬ</a:t>
            </a:r>
            <a:endParaRPr lang="en-US" altLang="ru-RU" sz="2000" b="1" dirty="0">
              <a:latin typeface="Times New Roman" panose="02020603050405020304" pitchFamily="18" charset="0"/>
              <a:cs typeface="Times New Roman" panose="02020603050405020304" pitchFamily="18" charset="0"/>
            </a:endParaRPr>
          </a:p>
        </p:txBody>
      </p:sp>
      <p:sp>
        <p:nvSpPr>
          <p:cNvPr id="10" name="Text Box 10">
            <a:extLst>
              <a:ext uri="{FF2B5EF4-FFF2-40B4-BE49-F238E27FC236}">
                <a16:creationId xmlns:a16="http://schemas.microsoft.com/office/drawing/2014/main" id="{EE01AB1B-27A7-4D9E-A8B8-1B1F42E4339A}"/>
              </a:ext>
            </a:extLst>
          </p:cNvPr>
          <p:cNvSpPr txBox="1">
            <a:spLocks noChangeArrowheads="1"/>
          </p:cNvSpPr>
          <p:nvPr/>
        </p:nvSpPr>
        <p:spPr bwMode="gray">
          <a:xfrm>
            <a:off x="9296399" y="2797828"/>
            <a:ext cx="2416880" cy="707886"/>
          </a:xfrm>
          <a:prstGeom prst="rect">
            <a:avLst/>
          </a:prstGeom>
          <a:solidFill>
            <a:schemeClr val="accent1"/>
          </a:solidFill>
          <a:ln>
            <a:solidFill>
              <a:schemeClr val="accent1"/>
            </a:solid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sz="2000" b="1" dirty="0">
                <a:latin typeface="Times New Roman" panose="02020603050405020304" pitchFamily="18" charset="0"/>
                <a:cs typeface="Times New Roman" panose="02020603050405020304" pitchFamily="18" charset="0"/>
              </a:rPr>
              <a:t>ПРАКТИЧЕСКАЯ </a:t>
            </a:r>
          </a:p>
          <a:p>
            <a:r>
              <a:rPr lang="ru-RU" sz="2000" b="1" dirty="0">
                <a:latin typeface="Times New Roman" panose="02020603050405020304" pitchFamily="18" charset="0"/>
                <a:cs typeface="Times New Roman" panose="02020603050405020304" pitchFamily="18" charset="0"/>
              </a:rPr>
              <a:t>ЧАСТЬ</a:t>
            </a:r>
            <a:endParaRPr lang="en-US" altLang="ru-RU" sz="2000" b="1" dirty="0">
              <a:latin typeface="Times New Roman" panose="02020603050405020304" pitchFamily="18" charset="0"/>
              <a:cs typeface="Times New Roman" panose="02020603050405020304" pitchFamily="18" charset="0"/>
            </a:endParaRPr>
          </a:p>
        </p:txBody>
      </p:sp>
      <p:sp>
        <p:nvSpPr>
          <p:cNvPr id="11" name="Прямоугольник 10">
            <a:extLst>
              <a:ext uri="{FF2B5EF4-FFF2-40B4-BE49-F238E27FC236}">
                <a16:creationId xmlns:a16="http://schemas.microsoft.com/office/drawing/2014/main" id="{2BB9EF3C-B951-4594-B574-AB5DCE9A19F8}"/>
              </a:ext>
            </a:extLst>
          </p:cNvPr>
          <p:cNvSpPr/>
          <p:nvPr/>
        </p:nvSpPr>
        <p:spPr>
          <a:xfrm>
            <a:off x="265038" y="2206055"/>
            <a:ext cx="9031361" cy="1555041"/>
          </a:xfrm>
          <a:prstGeom prst="rect">
            <a:avLst/>
          </a:prstGeom>
        </p:spPr>
        <p:txBody>
          <a:bodyPr wrap="square">
            <a:spAutoFit/>
          </a:bodyPr>
          <a:lstStyle/>
          <a:p>
            <a:pPr marL="102870" marR="461645" indent="450850" algn="just">
              <a:lnSpc>
                <a:spcPct val="150000"/>
              </a:lnSpc>
              <a:spcBef>
                <a:spcPts val="25"/>
              </a:spcBef>
              <a:spcAft>
                <a:spcPts val="0"/>
              </a:spcAft>
            </a:pPr>
            <a:r>
              <a:rPr lang="ru-RU" sz="2200" dirty="0">
                <a:latin typeface="Times New Roman" panose="02020603050405020304" pitchFamily="18" charset="0"/>
                <a:ea typeface="Times New Roman" panose="02020603050405020304" pitchFamily="18" charset="0"/>
              </a:rPr>
              <a:t>Представлены конкретные задачи и примеры отдельного проекта, методы решения, алгоритмы, программы и полученные результаты, а также их анализ.</a:t>
            </a:r>
            <a:endParaRPr lang="ru-RU" sz="2200" dirty="0">
              <a:effectLst/>
              <a:latin typeface="Times New Roman" panose="02020603050405020304" pitchFamily="18" charset="0"/>
              <a:ea typeface="Times New Roman" panose="02020603050405020304" pitchFamily="18" charset="0"/>
            </a:endParaRPr>
          </a:p>
        </p:txBody>
      </p:sp>
      <p:sp>
        <p:nvSpPr>
          <p:cNvPr id="12" name="Прямоугольник 11">
            <a:extLst>
              <a:ext uri="{FF2B5EF4-FFF2-40B4-BE49-F238E27FC236}">
                <a16:creationId xmlns:a16="http://schemas.microsoft.com/office/drawing/2014/main" id="{E7A95FA7-890A-4117-A0FD-AB2914E9CFEC}"/>
              </a:ext>
            </a:extLst>
          </p:cNvPr>
          <p:cNvSpPr/>
          <p:nvPr/>
        </p:nvSpPr>
        <p:spPr>
          <a:xfrm>
            <a:off x="2796273" y="3864418"/>
            <a:ext cx="9260260" cy="1046825"/>
          </a:xfrm>
          <a:prstGeom prst="rect">
            <a:avLst/>
          </a:prstGeom>
        </p:spPr>
        <p:txBody>
          <a:bodyPr wrap="square">
            <a:spAutoFit/>
          </a:bodyPr>
          <a:lstStyle/>
          <a:p>
            <a:pPr>
              <a:lnSpc>
                <a:spcPct val="150000"/>
              </a:lnSpc>
            </a:pPr>
            <a:r>
              <a:rPr lang="ru-RU" sz="2200" dirty="0">
                <a:latin typeface="Times New Roman" panose="02020603050405020304" pitchFamily="18" charset="0"/>
                <a:ea typeface="Times New Roman" panose="02020603050405020304" pitchFamily="18" charset="0"/>
              </a:rPr>
              <a:t>По выполненной работе делается общий вывод, дается краткое описание проделанной работы в теоретической и практической части.</a:t>
            </a:r>
            <a:endParaRPr lang="ru-RU" sz="2200" dirty="0"/>
          </a:p>
        </p:txBody>
      </p:sp>
      <p:sp>
        <p:nvSpPr>
          <p:cNvPr id="13" name="Text Box 10">
            <a:extLst>
              <a:ext uri="{FF2B5EF4-FFF2-40B4-BE49-F238E27FC236}">
                <a16:creationId xmlns:a16="http://schemas.microsoft.com/office/drawing/2014/main" id="{FC409D0A-6602-4AE8-8884-725F10658EFE}"/>
              </a:ext>
            </a:extLst>
          </p:cNvPr>
          <p:cNvSpPr txBox="1">
            <a:spLocks noChangeArrowheads="1"/>
          </p:cNvSpPr>
          <p:nvPr/>
        </p:nvSpPr>
        <p:spPr bwMode="gray">
          <a:xfrm>
            <a:off x="309410" y="4206118"/>
            <a:ext cx="2088905" cy="400110"/>
          </a:xfrm>
          <a:prstGeom prst="rect">
            <a:avLst/>
          </a:prstGeom>
          <a:solidFill>
            <a:schemeClr val="accent1"/>
          </a:solidFill>
          <a:ln>
            <a:noFill/>
          </a:ln>
          <a:effectLst/>
        </p:spPr>
        <p:txBody>
          <a:bodyPr wrap="none">
            <a:spAutoFit/>
          </a:bodyPr>
          <a:lstStyle>
            <a:defPPr>
              <a:defRPr lang="en-US"/>
            </a:defPPr>
            <a:lvl1pPr>
              <a:lnSpc>
                <a:spcPct val="100000"/>
              </a:lnSpc>
              <a:buFontTx/>
              <a:buNone/>
              <a:defRPr sz="2600">
                <a:latin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eaLnBrk="0" fontAlgn="base" hangingPunct="0">
              <a:lnSpc>
                <a:spcPct val="90000"/>
              </a:lnSpc>
              <a:spcBef>
                <a:spcPts val="500"/>
              </a:spcBef>
              <a:spcAft>
                <a:spcPct val="0"/>
              </a:spcAft>
              <a:buFont typeface="Arial" panose="020B0604020202020204" pitchFamily="34" charset="0"/>
              <a:buChar char="•"/>
            </a:lvl6pPr>
            <a:lvl7pPr marL="2971800" indent="-228600" eaLnBrk="0" fontAlgn="base" hangingPunct="0">
              <a:lnSpc>
                <a:spcPct val="90000"/>
              </a:lnSpc>
              <a:spcBef>
                <a:spcPts val="500"/>
              </a:spcBef>
              <a:spcAft>
                <a:spcPct val="0"/>
              </a:spcAft>
              <a:buFont typeface="Arial" panose="020B0604020202020204" pitchFamily="34" charset="0"/>
              <a:buChar char="•"/>
            </a:lvl7pPr>
            <a:lvl8pPr marL="3429000" indent="-228600" eaLnBrk="0" fontAlgn="base" hangingPunct="0">
              <a:lnSpc>
                <a:spcPct val="90000"/>
              </a:lnSpc>
              <a:spcBef>
                <a:spcPts val="500"/>
              </a:spcBef>
              <a:spcAft>
                <a:spcPct val="0"/>
              </a:spcAft>
              <a:buFont typeface="Arial" panose="020B0604020202020204" pitchFamily="34" charset="0"/>
              <a:buChar char="•"/>
            </a:lvl8pPr>
            <a:lvl9pPr marL="3886200" indent="-228600" eaLnBrk="0" fontAlgn="base" hangingPunct="0">
              <a:lnSpc>
                <a:spcPct val="90000"/>
              </a:lnSpc>
              <a:spcBef>
                <a:spcPts val="500"/>
              </a:spcBef>
              <a:spcAft>
                <a:spcPct val="0"/>
              </a:spcAft>
              <a:buFont typeface="Arial" panose="020B0604020202020204" pitchFamily="34" charset="0"/>
              <a:buChar char="•"/>
            </a:lvl9pPr>
          </a:lstStyle>
          <a:p>
            <a:r>
              <a:rPr lang="ru-RU" sz="2000" b="1" dirty="0">
                <a:latin typeface="Times New Roman" panose="02020603050405020304" pitchFamily="18" charset="0"/>
                <a:cs typeface="Times New Roman" panose="02020603050405020304" pitchFamily="18" charset="0"/>
              </a:rPr>
              <a:t>ЗАКЛЮЧЕНИЕ</a:t>
            </a:r>
            <a:endParaRPr lang="en-US" altLang="ru-RU" sz="2000" b="1" dirty="0">
              <a:latin typeface="Times New Roman" panose="02020603050405020304" pitchFamily="18" charset="0"/>
              <a:cs typeface="Times New Roman" panose="02020603050405020304" pitchFamily="18" charset="0"/>
            </a:endParaRPr>
          </a:p>
        </p:txBody>
      </p:sp>
      <p:sp>
        <p:nvSpPr>
          <p:cNvPr id="15" name="Прямоугольник 14">
            <a:extLst>
              <a:ext uri="{FF2B5EF4-FFF2-40B4-BE49-F238E27FC236}">
                <a16:creationId xmlns:a16="http://schemas.microsoft.com/office/drawing/2014/main" id="{C2CACDCE-0DF8-486E-AB15-9BDE0EF70455}"/>
              </a:ext>
            </a:extLst>
          </p:cNvPr>
          <p:cNvSpPr/>
          <p:nvPr/>
        </p:nvSpPr>
        <p:spPr>
          <a:xfrm>
            <a:off x="578949" y="5442753"/>
            <a:ext cx="10871199" cy="769441"/>
          </a:xfrm>
          <a:prstGeom prst="rect">
            <a:avLst/>
          </a:prstGeom>
        </p:spPr>
        <p:txBody>
          <a:bodyPr wrap="square">
            <a:spAutoFit/>
          </a:bodyPr>
          <a:lstStyle/>
          <a:p>
            <a:pPr algn="ctr"/>
            <a:r>
              <a:rPr lang="ru-RU" sz="2200" dirty="0">
                <a:latin typeface="Times New Roman" panose="02020603050405020304" pitchFamily="18" charset="0"/>
                <a:ea typeface="Times New Roman" panose="02020603050405020304" pitchFamily="18" charset="0"/>
              </a:rPr>
              <a:t>В конце сводного раздела студент предоставит список литературы и веб-ссылок, которые он будет использовать в своей индивидуальной проектной работе.</a:t>
            </a:r>
            <a:endParaRPr lang="ru-RU" sz="2200" dirty="0"/>
          </a:p>
        </p:txBody>
      </p:sp>
    </p:spTree>
    <p:extLst>
      <p:ext uri="{BB962C8B-B14F-4D97-AF65-F5344CB8AC3E}">
        <p14:creationId xmlns:p14="http://schemas.microsoft.com/office/powerpoint/2010/main" val="3268863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0" name="Picture 4" descr="MID PROJECT: Madrid Inclusión Digital – Proyecto MID – Madrid Inclusión  Digital">
            <a:extLst>
              <a:ext uri="{FF2B5EF4-FFF2-40B4-BE49-F238E27FC236}">
                <a16:creationId xmlns:a16="http://schemas.microsoft.com/office/drawing/2014/main" id="{983CB884-E4B8-4918-8977-6D9B92D589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544"/>
          <a:stretch/>
        </p:blipFill>
        <p:spPr bwMode="auto">
          <a:xfrm>
            <a:off x="3052774" y="969963"/>
            <a:ext cx="9337651" cy="5731729"/>
          </a:xfrm>
          <a:prstGeom prst="rect">
            <a:avLst/>
          </a:prstGeom>
          <a:noFill/>
          <a:extLst>
            <a:ext uri="{909E8E84-426E-40DD-AFC4-6F175D3DCCD1}">
              <a14:hiddenFill xmlns:a14="http://schemas.microsoft.com/office/drawing/2010/main">
                <a:solidFill>
                  <a:srgbClr val="FFFFFF"/>
                </a:solidFill>
              </a14:hiddenFill>
            </a:ext>
          </a:extLst>
        </p:spPr>
      </p:pic>
      <p:sp>
        <p:nvSpPr>
          <p:cNvPr id="59" name="Shape"/>
          <p:cNvSpPr/>
          <p:nvPr/>
        </p:nvSpPr>
        <p:spPr>
          <a:xfrm>
            <a:off x="-1678" y="4869780"/>
            <a:ext cx="12192000" cy="1984823"/>
          </a:xfrm>
          <a:custGeom>
            <a:avLst/>
            <a:gdLst/>
            <a:ahLst/>
            <a:cxnLst>
              <a:cxn ang="0">
                <a:pos x="wd2" y="hd2"/>
              </a:cxn>
              <a:cxn ang="5400000">
                <a:pos x="wd2" y="hd2"/>
              </a:cxn>
              <a:cxn ang="10800000">
                <a:pos x="wd2" y="hd2"/>
              </a:cxn>
              <a:cxn ang="16200000">
                <a:pos x="wd2" y="hd2"/>
              </a:cxn>
            </a:cxnLst>
            <a:rect l="0" t="0" r="r" b="b"/>
            <a:pathLst>
              <a:path w="21600" h="20876" extrusionOk="0">
                <a:moveTo>
                  <a:pt x="12796" y="7279"/>
                </a:moveTo>
                <a:cubicBezTo>
                  <a:pt x="6734" y="21599"/>
                  <a:pt x="1977" y="19295"/>
                  <a:pt x="0" y="14999"/>
                </a:cubicBezTo>
                <a:lnTo>
                  <a:pt x="0" y="20875"/>
                </a:lnTo>
                <a:lnTo>
                  <a:pt x="21600" y="20875"/>
                </a:lnTo>
                <a:lnTo>
                  <a:pt x="21600" y="3710"/>
                </a:lnTo>
                <a:cubicBezTo>
                  <a:pt x="21242" y="2616"/>
                  <a:pt x="20203" y="0"/>
                  <a:pt x="18450" y="0"/>
                </a:cubicBezTo>
                <a:cubicBezTo>
                  <a:pt x="17036" y="-1"/>
                  <a:pt x="15157" y="1701"/>
                  <a:pt x="12796" y="7279"/>
                </a:cubicBezTo>
              </a:path>
            </a:pathLst>
          </a:custGeom>
          <a:solidFill>
            <a:schemeClr val="accent1">
              <a:lumMod val="60000"/>
              <a:lumOff val="40000"/>
              <a:alpha val="73000"/>
            </a:schemeClr>
          </a:solidFill>
          <a:ln w="12700">
            <a:miter lim="400000"/>
          </a:ln>
          <a:effectLst>
            <a:softEdge rad="304800"/>
          </a:effectLst>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2" name="Прямоугольник 51"/>
          <p:cNvSpPr/>
          <p:nvPr/>
        </p:nvSpPr>
        <p:spPr>
          <a:xfrm>
            <a:off x="0" y="0"/>
            <a:ext cx="12192000" cy="1154113"/>
          </a:xfrm>
          <a:prstGeom prst="rect">
            <a:avLst/>
          </a:prstGeom>
          <a:solidFill>
            <a:schemeClr val="accent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41992" name="POWERPOINT TEMPLATE"/>
          <p:cNvSpPr>
            <a:spLocks noChangeArrowheads="1"/>
          </p:cNvSpPr>
          <p:nvPr/>
        </p:nvSpPr>
        <p:spPr bwMode="auto">
          <a:xfrm>
            <a:off x="2006600" y="230188"/>
            <a:ext cx="758825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38100" tIns="38100" rIns="38100" bIns="38100" anchor="ctr">
            <a:spAutoFit/>
          </a:bodyPr>
          <a:lstStyle>
            <a:lvl1pPr>
              <a:lnSpc>
                <a:spcPct val="90000"/>
              </a:lnSpc>
              <a:spcBef>
                <a:spcPts val="1000"/>
              </a:spcBef>
              <a:buFont typeface="Arial" panose="020B0604020202020204" pitchFamily="34" charset="0"/>
              <a:buChar char="•"/>
              <a:tabLst>
                <a:tab pos="1066800" algn="l"/>
              </a:tabLst>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tabLst>
                <a:tab pos="1066800" algn="l"/>
              </a:tabLst>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tabLst>
                <a:tab pos="1066800" algn="l"/>
              </a:tabLst>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tabLst>
                <a:tab pos="1066800" algn="l"/>
              </a:tabLst>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066800" algn="l"/>
              </a:tabLst>
              <a:defRPr>
                <a:solidFill>
                  <a:schemeClr val="tx1"/>
                </a:solidFill>
                <a:latin typeface="Arial" panose="020B0604020202020204" pitchFamily="34" charset="0"/>
              </a:defRPr>
            </a:lvl9pPr>
          </a:lstStyle>
          <a:p>
            <a:pPr algn="ctr" eaLnBrk="1" hangingPunct="1">
              <a:lnSpc>
                <a:spcPct val="100000"/>
              </a:lnSpc>
              <a:spcBef>
                <a:spcPct val="0"/>
              </a:spcBef>
              <a:buFontTx/>
              <a:buNone/>
            </a:pPr>
            <a:r>
              <a:rPr lang="ru-RU" altLang="ru-RU" sz="2000" dirty="0">
                <a:solidFill>
                  <a:schemeClr val="bg1"/>
                </a:solidFill>
                <a:latin typeface="Cambria" panose="02040503050406030204" pitchFamily="18" charset="0"/>
                <a:ea typeface="Cambria" panose="02040503050406030204" pitchFamily="18" charset="0"/>
                <a:cs typeface="Arial" panose="020B0604020202020204" pitchFamily="34" charset="0"/>
                <a:sym typeface="Arial" panose="020B0604020202020204" pitchFamily="34" charset="0"/>
              </a:rPr>
              <a:t>ТАШКЕНТСКИЙ УНИВЕРСИТЕТ ИНФОРМАЦИОННЫХ</a:t>
            </a:r>
          </a:p>
          <a:p>
            <a:pPr algn="ctr" eaLnBrk="1" hangingPunct="1">
              <a:lnSpc>
                <a:spcPct val="100000"/>
              </a:lnSpc>
              <a:spcBef>
                <a:spcPct val="0"/>
              </a:spcBef>
              <a:buFontTx/>
              <a:buNone/>
            </a:pPr>
            <a:r>
              <a:rPr lang="ru-RU" altLang="ru-RU" sz="2000" dirty="0">
                <a:solidFill>
                  <a:schemeClr val="bg1"/>
                </a:solidFill>
                <a:latin typeface="Cambria" panose="02040503050406030204" pitchFamily="18" charset="0"/>
                <a:ea typeface="Cambria" panose="02040503050406030204" pitchFamily="18" charset="0"/>
                <a:cs typeface="Arial" panose="020B0604020202020204" pitchFamily="34" charset="0"/>
                <a:sym typeface="Arial" panose="020B0604020202020204" pitchFamily="34" charset="0"/>
              </a:rPr>
              <a:t>ТЕХНОЛОГИЙ ИМЕНИ МУХАММАДА АЛ-ХОРАЗМИЙ</a:t>
            </a:r>
          </a:p>
        </p:txBody>
      </p:sp>
      <p:sp>
        <p:nvSpPr>
          <p:cNvPr id="58" name="Прямоугольник 57"/>
          <p:cNvSpPr/>
          <p:nvPr/>
        </p:nvSpPr>
        <p:spPr>
          <a:xfrm>
            <a:off x="533400" y="0"/>
            <a:ext cx="1168400" cy="1154113"/>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pic>
        <p:nvPicPr>
          <p:cNvPr id="41994" name="Рисунок 6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2300" y="107950"/>
            <a:ext cx="98107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Прямоугольник 70"/>
          <p:cNvSpPr>
            <a:spLocks noChangeAspect="1"/>
          </p:cNvSpPr>
          <p:nvPr/>
        </p:nvSpPr>
        <p:spPr>
          <a:xfrm>
            <a:off x="5078412" y="3983175"/>
            <a:ext cx="6659562" cy="1562100"/>
          </a:xfrm>
          <a:prstGeom prst="rect">
            <a:avLst/>
          </a:prstGeom>
          <a:solidFill>
            <a:schemeClr val="accent1"/>
          </a:solidFill>
          <a:ln w="12700">
            <a:solidFill>
              <a:schemeClr val="accent1"/>
            </a:solidFill>
            <a:miter lim="400000"/>
          </a:ln>
        </p:spPr>
        <p:txBody>
          <a:bodyPr lIns="38100" tIns="38100" rIns="38100" bIns="38100" anchor="ctr"/>
          <a:lstStyle/>
          <a:p>
            <a:pPr eaLnBrk="1" fontAlgn="auto" hangingPunct="1">
              <a:spcBef>
                <a:spcPts val="0"/>
              </a:spcBef>
              <a:spcAft>
                <a:spcPts val="0"/>
              </a:spcAft>
              <a:defRPr/>
            </a:pPr>
            <a:endParaRPr lang="en-US" sz="2800" dirty="0">
              <a:solidFill>
                <a:srgbClr val="FFFFFF"/>
              </a:solidFill>
              <a:effectLst>
                <a:outerShdw blurRad="38100" dist="12700" dir="5400000" rotWithShape="0">
                  <a:srgbClr val="000000">
                    <a:alpha val="50000"/>
                  </a:srgbClr>
                </a:outerShdw>
              </a:effectLst>
              <a:cs typeface="Arial" panose="020B0604020202020204" pitchFamily="34" charset="0"/>
            </a:endParaRPr>
          </a:p>
        </p:txBody>
      </p:sp>
      <p:sp>
        <p:nvSpPr>
          <p:cNvPr id="38" name="Circle"/>
          <p:cNvSpPr/>
          <p:nvPr/>
        </p:nvSpPr>
        <p:spPr>
          <a:xfrm>
            <a:off x="7124700" y="1443038"/>
            <a:ext cx="1195388" cy="1195387"/>
          </a:xfrm>
          <a:prstGeom prst="ellipse">
            <a:avLst/>
          </a:prstGeom>
          <a:solidFill>
            <a:schemeClr val="accent1">
              <a:lumMod val="60000"/>
              <a:lumOff val="40000"/>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9" name="Circle"/>
          <p:cNvSpPr/>
          <p:nvPr/>
        </p:nvSpPr>
        <p:spPr>
          <a:xfrm>
            <a:off x="7429500" y="1747838"/>
            <a:ext cx="584200" cy="584200"/>
          </a:xfrm>
          <a:prstGeom prst="ellipse">
            <a:avLst/>
          </a:prstGeom>
          <a:solidFill>
            <a:schemeClr val="accent1">
              <a:lumMod val="60000"/>
              <a:lumOff val="40000"/>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pic>
        <p:nvPicPr>
          <p:cNvPr id="42000" name="Рисунок 13" descr="Преподаватель"/>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840788" y="5518150"/>
            <a:ext cx="522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1" name="Рисунок 15" descr="Суд"/>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913813" y="6113463"/>
            <a:ext cx="4254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Прямая соединительная линия 17"/>
          <p:cNvCxnSpPr>
            <a:cxnSpLocks/>
          </p:cNvCxnSpPr>
          <p:nvPr/>
        </p:nvCxnSpPr>
        <p:spPr>
          <a:xfrm>
            <a:off x="9415463" y="5562600"/>
            <a:ext cx="9525" cy="952500"/>
          </a:xfrm>
          <a:prstGeom prst="line">
            <a:avLst/>
          </a:prstGeom>
        </p:spPr>
        <p:style>
          <a:lnRef idx="3">
            <a:schemeClr val="accent1"/>
          </a:lnRef>
          <a:fillRef idx="0">
            <a:schemeClr val="accent1"/>
          </a:fillRef>
          <a:effectRef idx="2">
            <a:schemeClr val="accent1"/>
          </a:effectRef>
          <a:fontRef idx="minor">
            <a:schemeClr val="tx1"/>
          </a:fontRef>
        </p:style>
      </p:cxnSp>
      <p:sp>
        <p:nvSpPr>
          <p:cNvPr id="67" name="Shape"/>
          <p:cNvSpPr/>
          <p:nvPr/>
        </p:nvSpPr>
        <p:spPr>
          <a:xfrm>
            <a:off x="9415463" y="3856038"/>
            <a:ext cx="2776537" cy="1524000"/>
          </a:xfrm>
          <a:custGeom>
            <a:avLst/>
            <a:gdLst/>
            <a:ahLst/>
            <a:cxnLst>
              <a:cxn ang="0">
                <a:pos x="wd2" y="hd2"/>
              </a:cxn>
              <a:cxn ang="5400000">
                <a:pos x="wd2" y="hd2"/>
              </a:cxn>
              <a:cxn ang="10800000">
                <a:pos x="wd2" y="hd2"/>
              </a:cxn>
              <a:cxn ang="16200000">
                <a:pos x="wd2" y="hd2"/>
              </a:cxn>
            </a:cxnLst>
            <a:rect l="0" t="0" r="r" b="b"/>
            <a:pathLst>
              <a:path w="21600" h="20321" extrusionOk="0">
                <a:moveTo>
                  <a:pt x="0" y="0"/>
                </a:moveTo>
                <a:cubicBezTo>
                  <a:pt x="0" y="0"/>
                  <a:pt x="5038" y="1479"/>
                  <a:pt x="9202" y="11540"/>
                </a:cubicBezTo>
                <a:cubicBezTo>
                  <a:pt x="13365" y="21600"/>
                  <a:pt x="18466" y="20850"/>
                  <a:pt x="21600" y="19629"/>
                </a:cubicBezTo>
                <a:lnTo>
                  <a:pt x="21600" y="9125"/>
                </a:lnTo>
                <a:cubicBezTo>
                  <a:pt x="21600" y="9125"/>
                  <a:pt x="17644" y="15417"/>
                  <a:pt x="12031" y="9125"/>
                </a:cubicBezTo>
                <a:cubicBezTo>
                  <a:pt x="6417" y="2834"/>
                  <a:pt x="5592" y="337"/>
                  <a:pt x="0" y="0"/>
                </a:cubicBezTo>
              </a:path>
            </a:pathLst>
          </a:custGeom>
          <a:solidFill>
            <a:schemeClr val="accent3">
              <a:lumMod val="75000"/>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68" name="Shape"/>
          <p:cNvSpPr/>
          <p:nvPr/>
        </p:nvSpPr>
        <p:spPr>
          <a:xfrm>
            <a:off x="9993313" y="4303713"/>
            <a:ext cx="2198687" cy="644525"/>
          </a:xfrm>
          <a:custGeom>
            <a:avLst/>
            <a:gdLst/>
            <a:ahLst/>
            <a:cxnLst>
              <a:cxn ang="0">
                <a:pos x="wd2" y="hd2"/>
              </a:cxn>
              <a:cxn ang="5400000">
                <a:pos x="wd2" y="hd2"/>
              </a:cxn>
              <a:cxn ang="10800000">
                <a:pos x="wd2" y="hd2"/>
              </a:cxn>
              <a:cxn ang="16200000">
                <a:pos x="wd2" y="hd2"/>
              </a:cxn>
            </a:cxnLst>
            <a:rect l="0" t="0" r="r" b="b"/>
            <a:pathLst>
              <a:path w="21600" h="13908" extrusionOk="0">
                <a:moveTo>
                  <a:pt x="8658" y="12946"/>
                </a:moveTo>
                <a:cubicBezTo>
                  <a:pt x="3340" y="16838"/>
                  <a:pt x="0" y="7669"/>
                  <a:pt x="0" y="7669"/>
                </a:cubicBezTo>
                <a:cubicBezTo>
                  <a:pt x="0" y="7669"/>
                  <a:pt x="4864" y="13570"/>
                  <a:pt x="9788" y="4404"/>
                </a:cubicBezTo>
                <a:cubicBezTo>
                  <a:pt x="14712" y="-4762"/>
                  <a:pt x="20564" y="2513"/>
                  <a:pt x="21600" y="7059"/>
                </a:cubicBezTo>
                <a:lnTo>
                  <a:pt x="21559" y="10406"/>
                </a:lnTo>
                <a:cubicBezTo>
                  <a:pt x="19402" y="4486"/>
                  <a:pt x="13975" y="9053"/>
                  <a:pt x="8658" y="12946"/>
                </a:cubicBezTo>
              </a:path>
            </a:pathLst>
          </a:custGeom>
          <a:solidFill>
            <a:schemeClr val="accent3">
              <a:lumMod val="75000"/>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3" name="Прямоугольник 72"/>
          <p:cNvSpPr/>
          <p:nvPr/>
        </p:nvSpPr>
        <p:spPr>
          <a:xfrm>
            <a:off x="10853738" y="-1588"/>
            <a:ext cx="44450" cy="1155701"/>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74" name="Прямоугольник 73"/>
          <p:cNvSpPr/>
          <p:nvPr/>
        </p:nvSpPr>
        <p:spPr>
          <a:xfrm>
            <a:off x="10702925" y="0"/>
            <a:ext cx="87313" cy="1154113"/>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75" name="Прямоугольник 74"/>
          <p:cNvSpPr/>
          <p:nvPr/>
        </p:nvSpPr>
        <p:spPr>
          <a:xfrm>
            <a:off x="10501313" y="0"/>
            <a:ext cx="169862" cy="1154113"/>
          </a:xfrm>
          <a:prstGeom prst="rect">
            <a:avLst/>
          </a:prstGeom>
          <a:solidFill>
            <a:schemeClr val="bg1"/>
          </a:solidFill>
          <a:ln w="12700">
            <a:miter lim="400000"/>
          </a:ln>
        </p:spPr>
        <p:txBody>
          <a:bodyPr lIns="38100" tIns="38100" rIns="38100" bIns="38100" anchor="ctr"/>
          <a:lstStyle/>
          <a:p>
            <a:pPr eaLnBrk="1" fontAlgn="auto" hangingPunct="1">
              <a:spcBef>
                <a:spcPts val="0"/>
              </a:spcBef>
              <a:spcAft>
                <a:spcPts val="0"/>
              </a:spcAft>
              <a:defRPr/>
            </a:pPr>
            <a:endParaRPr lang="en-US" sz="3000">
              <a:solidFill>
                <a:srgbClr val="FFFFFF"/>
              </a:solidFill>
              <a:effectLst>
                <a:outerShdw blurRad="38100" dist="12700" dir="5400000" rotWithShape="0">
                  <a:srgbClr val="000000">
                    <a:alpha val="50000"/>
                  </a:srgbClr>
                </a:outerShdw>
              </a:effectLst>
              <a:latin typeface="+mn-lt"/>
            </a:endParaRPr>
          </a:p>
        </p:txBody>
      </p:sp>
      <p:sp>
        <p:nvSpPr>
          <p:cNvPr id="76" name="Circle"/>
          <p:cNvSpPr/>
          <p:nvPr/>
        </p:nvSpPr>
        <p:spPr>
          <a:xfrm>
            <a:off x="10098088" y="-26988"/>
            <a:ext cx="1195387" cy="1195388"/>
          </a:xfrm>
          <a:prstGeom prst="ellipse">
            <a:avLst/>
          </a:prstGeom>
          <a:solidFill>
            <a:schemeClr val="accent3">
              <a:lumMod val="60000"/>
              <a:lumOff val="40000"/>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77" name="Circle"/>
          <p:cNvSpPr/>
          <p:nvPr/>
        </p:nvSpPr>
        <p:spPr>
          <a:xfrm>
            <a:off x="10402888" y="277813"/>
            <a:ext cx="584200" cy="584200"/>
          </a:xfrm>
          <a:prstGeom prst="ellipse">
            <a:avLst/>
          </a:prstGeom>
          <a:solidFill>
            <a:schemeClr val="accent3">
              <a:lumMod val="60000"/>
              <a:lumOff val="40000"/>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82" name="Circle"/>
          <p:cNvSpPr/>
          <p:nvPr/>
        </p:nvSpPr>
        <p:spPr>
          <a:xfrm>
            <a:off x="6446838" y="5514975"/>
            <a:ext cx="381000" cy="382588"/>
          </a:xfrm>
          <a:prstGeom prst="ellipse">
            <a:avLst/>
          </a:prstGeom>
          <a:solidFill>
            <a:schemeClr val="accent4">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83" name="Circle"/>
          <p:cNvSpPr/>
          <p:nvPr/>
        </p:nvSpPr>
        <p:spPr>
          <a:xfrm>
            <a:off x="6573838" y="5648325"/>
            <a:ext cx="125412" cy="127000"/>
          </a:xfrm>
          <a:prstGeom prst="ellipse">
            <a:avLst/>
          </a:prstGeom>
          <a:solidFill>
            <a:schemeClr val="accent4">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42012" name="Прямоугольник 4"/>
          <p:cNvSpPr>
            <a:spLocks noChangeArrowheads="1"/>
          </p:cNvSpPr>
          <p:nvPr/>
        </p:nvSpPr>
        <p:spPr bwMode="auto">
          <a:xfrm>
            <a:off x="5375275" y="4367324"/>
            <a:ext cx="54272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defRPr>
            </a:lvl9pPr>
          </a:lstStyle>
          <a:p>
            <a:pPr eaLnBrk="1" hangingPunct="1">
              <a:lnSpc>
                <a:spcPct val="100000"/>
              </a:lnSpc>
              <a:spcBef>
                <a:spcPct val="0"/>
              </a:spcBef>
              <a:buFontTx/>
              <a:buNone/>
            </a:pPr>
            <a:r>
              <a:rPr lang="ru-RU" altLang="ru-RU" sz="3200" dirty="0">
                <a:solidFill>
                  <a:schemeClr val="bg1"/>
                </a:solidFill>
                <a:cs typeface="Arial" panose="020B0604020202020204" pitchFamily="34" charset="0"/>
              </a:rPr>
              <a:t>СПАСИБО ЗА ВНИМАНИЕ</a:t>
            </a:r>
            <a:r>
              <a:rPr lang="en-US" altLang="ru-RU" sz="3200" dirty="0">
                <a:solidFill>
                  <a:schemeClr val="bg1"/>
                </a:solidFill>
                <a:cs typeface="Arial" panose="020B0604020202020204" pitchFamily="34" charset="0"/>
              </a:rPr>
              <a:t>!</a:t>
            </a:r>
          </a:p>
        </p:txBody>
      </p:sp>
      <p:sp>
        <p:nvSpPr>
          <p:cNvPr id="69" name="Circle"/>
          <p:cNvSpPr/>
          <p:nvPr/>
        </p:nvSpPr>
        <p:spPr>
          <a:xfrm>
            <a:off x="3644900" y="3200400"/>
            <a:ext cx="647700" cy="647700"/>
          </a:xfrm>
          <a:prstGeom prst="ellipse">
            <a:avLst/>
          </a:prstGeom>
          <a:solidFill>
            <a:schemeClr val="accent2">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2800">
              <a:solidFill>
                <a:srgbClr val="FFFFFF"/>
              </a:solidFill>
              <a:effectLst>
                <a:outerShdw blurRad="38100" dist="12700" dir="5400000" rotWithShape="0">
                  <a:srgbClr val="000000">
                    <a:alpha val="50000"/>
                  </a:srgbClr>
                </a:outerShdw>
              </a:effectLst>
              <a:latin typeface="+mn-lt"/>
            </a:endParaRPr>
          </a:p>
        </p:txBody>
      </p:sp>
      <p:sp>
        <p:nvSpPr>
          <p:cNvPr id="36" name="Circle"/>
          <p:cNvSpPr/>
          <p:nvPr/>
        </p:nvSpPr>
        <p:spPr>
          <a:xfrm>
            <a:off x="2139950" y="5473700"/>
            <a:ext cx="381000" cy="381000"/>
          </a:xfrm>
          <a:prstGeom prst="ellipse">
            <a:avLst/>
          </a:prstGeom>
          <a:solidFill>
            <a:schemeClr val="accent4">
              <a:alpha val="15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7" name="Circle"/>
          <p:cNvSpPr/>
          <p:nvPr/>
        </p:nvSpPr>
        <p:spPr>
          <a:xfrm>
            <a:off x="3867150" y="3417888"/>
            <a:ext cx="214313" cy="212725"/>
          </a:xfrm>
          <a:prstGeom prst="ellipse">
            <a:avLst/>
          </a:prstGeom>
          <a:solidFill>
            <a:schemeClr val="accent2">
              <a:alpha val="5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51" name="Oval 52"/>
          <p:cNvSpPr/>
          <p:nvPr/>
        </p:nvSpPr>
        <p:spPr>
          <a:xfrm>
            <a:off x="4083050" y="2371725"/>
            <a:ext cx="465138" cy="4667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3" name="Oval 53"/>
          <p:cNvSpPr/>
          <p:nvPr/>
        </p:nvSpPr>
        <p:spPr>
          <a:xfrm>
            <a:off x="3913188" y="5641975"/>
            <a:ext cx="635000" cy="636588"/>
          </a:xfrm>
          <a:prstGeom prst="ellipse">
            <a:avLst/>
          </a:prstGeom>
          <a:noFill/>
          <a:ln w="539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4" name="Oval 54"/>
          <p:cNvSpPr/>
          <p:nvPr/>
        </p:nvSpPr>
        <p:spPr>
          <a:xfrm>
            <a:off x="4746625" y="2038350"/>
            <a:ext cx="187325" cy="1873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5" name="Oval 103"/>
          <p:cNvSpPr/>
          <p:nvPr/>
        </p:nvSpPr>
        <p:spPr>
          <a:xfrm>
            <a:off x="233363" y="2160588"/>
            <a:ext cx="990600" cy="990600"/>
          </a:xfrm>
          <a:prstGeom prst="ellipse">
            <a:avLst/>
          </a:prstGeom>
          <a:solidFill>
            <a:schemeClr val="bg1"/>
          </a:solidFill>
          <a:ln w="539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7" name="Oval 104"/>
          <p:cNvSpPr/>
          <p:nvPr/>
        </p:nvSpPr>
        <p:spPr>
          <a:xfrm>
            <a:off x="446088" y="2373313"/>
            <a:ext cx="565150" cy="563562"/>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4" name="Shape"/>
          <p:cNvSpPr/>
          <p:nvPr/>
        </p:nvSpPr>
        <p:spPr>
          <a:xfrm>
            <a:off x="0" y="5067300"/>
            <a:ext cx="3265488" cy="1793875"/>
          </a:xfrm>
          <a:custGeom>
            <a:avLst/>
            <a:gdLst/>
            <a:ahLst/>
            <a:cxnLst>
              <a:cxn ang="0">
                <a:pos x="wd2" y="hd2"/>
              </a:cxn>
              <a:cxn ang="5400000">
                <a:pos x="wd2" y="hd2"/>
              </a:cxn>
              <a:cxn ang="10800000">
                <a:pos x="wd2" y="hd2"/>
              </a:cxn>
              <a:cxn ang="16200000">
                <a:pos x="wd2" y="hd2"/>
              </a:cxn>
            </a:cxnLst>
            <a:rect l="0" t="0" r="r" b="b"/>
            <a:pathLst>
              <a:path w="21600" h="20321" extrusionOk="0">
                <a:moveTo>
                  <a:pt x="21600" y="20321"/>
                </a:moveTo>
                <a:cubicBezTo>
                  <a:pt x="21600" y="20321"/>
                  <a:pt x="16562" y="18842"/>
                  <a:pt x="12398" y="8781"/>
                </a:cubicBezTo>
                <a:cubicBezTo>
                  <a:pt x="8235" y="-1279"/>
                  <a:pt x="3134" y="-529"/>
                  <a:pt x="0" y="692"/>
                </a:cubicBezTo>
                <a:lnTo>
                  <a:pt x="0" y="11196"/>
                </a:lnTo>
                <a:cubicBezTo>
                  <a:pt x="0" y="11196"/>
                  <a:pt x="3956" y="4904"/>
                  <a:pt x="9569" y="11196"/>
                </a:cubicBezTo>
                <a:cubicBezTo>
                  <a:pt x="15183" y="17487"/>
                  <a:pt x="16008" y="19984"/>
                  <a:pt x="21600" y="20321"/>
                </a:cubicBezTo>
              </a:path>
            </a:pathLst>
          </a:custGeom>
          <a:solidFill>
            <a:schemeClr val="accent6">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sp>
        <p:nvSpPr>
          <p:cNvPr id="35" name="Shape"/>
          <p:cNvSpPr/>
          <p:nvPr/>
        </p:nvSpPr>
        <p:spPr>
          <a:xfrm>
            <a:off x="0" y="4959350"/>
            <a:ext cx="2586038" cy="757238"/>
          </a:xfrm>
          <a:custGeom>
            <a:avLst/>
            <a:gdLst/>
            <a:ahLst/>
            <a:cxnLst>
              <a:cxn ang="0">
                <a:pos x="wd2" y="hd2"/>
              </a:cxn>
              <a:cxn ang="5400000">
                <a:pos x="wd2" y="hd2"/>
              </a:cxn>
              <a:cxn ang="10800000">
                <a:pos x="wd2" y="hd2"/>
              </a:cxn>
              <a:cxn ang="16200000">
                <a:pos x="wd2" y="hd2"/>
              </a:cxn>
            </a:cxnLst>
            <a:rect l="0" t="0" r="r" b="b"/>
            <a:pathLst>
              <a:path w="21600" h="13908" extrusionOk="0">
                <a:moveTo>
                  <a:pt x="12942" y="962"/>
                </a:moveTo>
                <a:cubicBezTo>
                  <a:pt x="18260" y="-2930"/>
                  <a:pt x="21600" y="6239"/>
                  <a:pt x="21600" y="6239"/>
                </a:cubicBezTo>
                <a:cubicBezTo>
                  <a:pt x="21600" y="6239"/>
                  <a:pt x="16736" y="338"/>
                  <a:pt x="11812" y="9504"/>
                </a:cubicBezTo>
                <a:cubicBezTo>
                  <a:pt x="6888" y="18670"/>
                  <a:pt x="1036" y="11395"/>
                  <a:pt x="0" y="6849"/>
                </a:cubicBezTo>
                <a:lnTo>
                  <a:pt x="41" y="3502"/>
                </a:lnTo>
                <a:cubicBezTo>
                  <a:pt x="2198" y="9422"/>
                  <a:pt x="7625" y="4854"/>
                  <a:pt x="12942" y="962"/>
                </a:cubicBezTo>
              </a:path>
            </a:pathLst>
          </a:custGeom>
          <a:solidFill>
            <a:schemeClr val="accent6">
              <a:alpha val="30000"/>
            </a:schemeClr>
          </a:solidFill>
          <a:ln w="12700">
            <a:miter lim="400000"/>
          </a:ln>
        </p:spPr>
        <p:txBody>
          <a:bodyPr lIns="38100" tIns="38100" rIns="38100" bIns="38100" anchor="ctr"/>
          <a:lstStyle/>
          <a:p>
            <a:pPr eaLnBrk="1" fontAlgn="auto" hangingPunct="1">
              <a:spcBef>
                <a:spcPts val="0"/>
              </a:spcBef>
              <a:spcAft>
                <a:spcPts val="0"/>
              </a:spcAft>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n-lt"/>
            </a:endParaRPr>
          </a:p>
        </p:txBody>
      </p:sp>
      <p:pic>
        <p:nvPicPr>
          <p:cNvPr id="9" name="Рисунок 8"/>
          <p:cNvPicPr>
            <a:picLocks noGrp="1" noChangeAspect="1"/>
          </p:cNvPicPr>
          <p:nvPr>
            <p:ph type="pic" sz="quarter" idx="13"/>
          </p:nvPr>
        </p:nvPicPr>
        <p:blipFill>
          <a:blip r:embed="rId7"/>
          <a:srcRect l="13851" r="13851"/>
          <a:stretch>
            <a:fillRect/>
          </a:stretch>
        </p:blipFill>
        <p:spPr>
          <a:xfrm>
            <a:off x="605867" y="1426479"/>
            <a:ext cx="4463146" cy="4852084"/>
          </a:xfrm>
          <a:effectLst>
            <a:softEdge rad="406400"/>
          </a:effectLst>
        </p:spPr>
      </p:pic>
    </p:spTree>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4a356594644b59bc0cce3f6c9f933ec6ddf819e"/>
</p:tagLst>
</file>

<file path=ppt/theme/theme1.xml><?xml version="1.0" encoding="utf-8"?>
<a:theme xmlns:a="http://schemas.openxmlformats.org/drawingml/2006/main" name="Office Theme">
  <a:themeElements>
    <a:clrScheme name="Синий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2466</TotalTime>
  <Words>660</Words>
  <Application>Microsoft Office PowerPoint</Application>
  <PresentationFormat>Широкоэкранный</PresentationFormat>
  <Paragraphs>63</Paragraphs>
  <Slides>9</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9</vt:i4>
      </vt:variant>
    </vt:vector>
  </HeadingPairs>
  <TitlesOfParts>
    <vt:vector size="14" baseType="lpstr">
      <vt:lpstr>Arial</vt:lpstr>
      <vt:lpstr>Calibri</vt:lpstr>
      <vt:lpstr>Cambria</vt:lpstr>
      <vt:lpstr>Times New Roman</vt:lpstr>
      <vt:lpstr>Office Theme</vt:lpstr>
      <vt:lpstr>Презентация PowerPoint</vt:lpstr>
      <vt:lpstr>План работы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Rezaul Karim</dc:creator>
  <cp:lastModifiedBy>idevice</cp:lastModifiedBy>
  <cp:revision>388</cp:revision>
  <dcterms:created xsi:type="dcterms:W3CDTF">2019-10-14T11:46:54Z</dcterms:created>
  <dcterms:modified xsi:type="dcterms:W3CDTF">2025-03-15T11:43:07Z</dcterms:modified>
</cp:coreProperties>
</file>